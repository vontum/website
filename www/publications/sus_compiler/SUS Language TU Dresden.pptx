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solidFill>
                  <a:schemeClr val="dk1"/>
                </a:solidFill>
              </a:rPr>
              <a:t>Hi, today I’ll introduce you all to my PhD Project: the SUS Language. I’ll explain my motivation for building it, and go over the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d2aaaca66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d2aaaca66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d2aaaca666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d2aaaca666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d2aaaca666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d2aaaca666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d2aaaca666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d2aaaca666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d2aaaca666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d2aaaca666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2aaaca666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2aaaca666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d2aaaca666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d2aaaca666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d2aaaca666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d2aaaca666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d2aaaca666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d2aaaca666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d2aaaca666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d2aaaca666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d2aaaca66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d2aaaca66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2aaaca666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2aaaca666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Turing-complete generative code?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Too high a price to pay. Basic for loops and conditions are enough in 99% of cases.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Regardless, for complicated generative code people build separate IP generators.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d2aaaca666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d2aaaca666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d26addedf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d26addedf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d26addedf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d26addedf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d26addedf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d26addedf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d26addedf4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d26addedf4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d2aaaca66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d2aaaca66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d2aaaca666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d2aaaca666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d2aaaca666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d2aaaca666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da7002644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da7002644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d2aaaca666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d2aaaca666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d26added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d26added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d26addedf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d26addedf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d2aaaca666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d2aaaca666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d2aaaca666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d2aaaca666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d26addedf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d26addedf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cf0bc0d8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cf0bc0d8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Design </a:t>
            </a:r>
            <a:r>
              <a:rPr lang="nl"/>
              <a:t>decisions shouldn’t just be logically correct, but intuitively make sense.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cf0bc0d8c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cf0bc0d8c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“No spooky action at a distance”</a:t>
            </a:r>
            <a:endParaRPr/>
          </a:p>
          <a:p>
            <a:pPr indent="-298450" lvl="0" marL="457200" rtl="0" algn="l">
              <a:spcBef>
                <a:spcPts val="0"/>
              </a:spcBef>
              <a:spcAft>
                <a:spcPts val="0"/>
              </a:spcAft>
              <a:buSzPts val="1100"/>
              <a:buChar char="-"/>
            </a:pPr>
            <a:r>
              <a:rPr lang="nl"/>
              <a:t>“No implementation Mystery”</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cf0bc0d8c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cf0bc0d8c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Example: C++ Templates as bad for feedback</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cf0bc0d8c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cf0bc0d8c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The most floaty of the three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Every </a:t>
            </a:r>
            <a:r>
              <a:rPr lang="nl"/>
              <a:t>word</a:t>
            </a:r>
            <a:r>
              <a:rPr lang="nl"/>
              <a:t> 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Simplicity in Syntax and Editing</a:t>
            </a:r>
            <a:endParaRPr/>
          </a:p>
          <a:p>
            <a:pPr indent="0" lvl="0" marL="0" rtl="0" algn="l">
              <a:lnSpc>
                <a:spcPct val="90000"/>
              </a:lnSpc>
              <a:spcBef>
                <a:spcPts val="800"/>
              </a:spcBef>
              <a:spcAft>
                <a:spcPts val="0"/>
              </a:spcAft>
              <a:buNone/>
            </a:pPr>
            <a:r>
              <a:rPr lang="nl" sz="1800">
                <a:solidFill>
                  <a:srgbClr val="595959"/>
                </a:solidFill>
              </a:rPr>
              <a:t>Inference is powerful!</a:t>
            </a:r>
            <a:endParaRPr sz="1800">
              <a:solidFill>
                <a:srgbClr val="595959"/>
              </a:solidFill>
            </a:endParaRPr>
          </a:p>
          <a:p>
            <a:pPr indent="0" lvl="0" marL="0" rtl="0" algn="l">
              <a:lnSpc>
                <a:spcPct val="90000"/>
              </a:lnSpc>
              <a:spcBef>
                <a:spcPts val="1200"/>
              </a:spcBef>
              <a:spcAft>
                <a:spcPts val="1200"/>
              </a:spcAft>
              <a:buClr>
                <a:schemeClr val="dk1"/>
              </a:buClr>
              <a:buSzPts val="1100"/>
              <a:buFont typeface="Arial"/>
              <a:buNone/>
            </a:pPr>
            <a:r>
              <a:t/>
            </a:r>
            <a:endParaRPr sz="1800">
              <a:solidFill>
                <a:srgbClr val="595959"/>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da7002644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da7002644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The most floaty of the three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Every word 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Simplicity in Syntax and Editing</a:t>
            </a:r>
            <a:endParaRPr/>
          </a:p>
          <a:p>
            <a:pPr indent="0" lvl="0" marL="0" rtl="0" algn="l">
              <a:lnSpc>
                <a:spcPct val="90000"/>
              </a:lnSpc>
              <a:spcBef>
                <a:spcPts val="800"/>
              </a:spcBef>
              <a:spcAft>
                <a:spcPts val="0"/>
              </a:spcAft>
              <a:buNone/>
            </a:pPr>
            <a:r>
              <a:rPr lang="nl" sz="1800">
                <a:solidFill>
                  <a:srgbClr val="595959"/>
                </a:solidFill>
              </a:rPr>
              <a:t>Inference is powerful!</a:t>
            </a:r>
            <a:endParaRPr sz="1800">
              <a:solidFill>
                <a:srgbClr val="595959"/>
              </a:solidFill>
            </a:endParaRPr>
          </a:p>
          <a:p>
            <a:pPr indent="0" lvl="0" marL="0" rtl="0" algn="l">
              <a:lnSpc>
                <a:spcPct val="90000"/>
              </a:lnSpc>
              <a:spcBef>
                <a:spcPts val="1200"/>
              </a:spcBef>
              <a:spcAft>
                <a:spcPts val="1200"/>
              </a:spcAft>
              <a:buClr>
                <a:schemeClr val="dk1"/>
              </a:buClr>
              <a:buSzPts val="1100"/>
              <a:buFont typeface="Arial"/>
              <a:buNone/>
            </a:pPr>
            <a:r>
              <a:t/>
            </a:r>
            <a:endParaRPr sz="1800">
              <a:solidFill>
                <a:srgbClr val="595959"/>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d2aaaca66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d2aaaca66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d2aaaca666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d2aaaca666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SUS is a Structural Language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SEMANTICS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d2aaaca666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d2aaaca66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For loops are always generative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GENERATIVE SEMANTICS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d2aaaca66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d2aaaca66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d2aaaca66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d2aaaca66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d2aaaca66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d2aaaca66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Values are Values and Types are Types, and never the twain shall meet!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d2aaaca66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d2aaaca66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d2aaaca66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d2aaaca66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You could fill a library with all the papers in Dependent Types</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d2aaaca66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d2aaaca66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800"/>
              </a:spcBef>
              <a:spcAft>
                <a:spcPts val="0"/>
              </a:spcAft>
              <a:buClr>
                <a:schemeClr val="dk1"/>
              </a:buClr>
              <a:buSzPts val="1100"/>
              <a:buFont typeface="Arial"/>
              <a:buNone/>
            </a:pPr>
            <a:r>
              <a:rPr lang="nl" sz="1800">
                <a:solidFill>
                  <a:srgbClr val="595959"/>
                </a:solidFill>
              </a:rPr>
              <a:t>It picks the pragmatic solution</a:t>
            </a:r>
            <a:endParaRPr sz="1800">
              <a:solidFill>
                <a:srgbClr val="595959"/>
              </a:solidFill>
            </a:endParaRPr>
          </a:p>
          <a:p>
            <a:pPr indent="0" lvl="0" marL="0" rtl="0" algn="l">
              <a:spcBef>
                <a:spcPts val="120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d2aaaca66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2d2aaaca66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cf0bc0d8c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cf0bc0d8c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cfd2b3d60f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cfd2b3d60f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State &amp; Latency regs</a:t>
            </a:r>
            <a:endParaRPr/>
          </a:p>
          <a:p>
            <a:pPr indent="-298450" lvl="0" marL="457200" rtl="0" algn="l">
              <a:spcBef>
                <a:spcPts val="0"/>
              </a:spcBef>
              <a:spcAft>
                <a:spcPts val="0"/>
              </a:spcAft>
              <a:buSzPts val="1100"/>
              <a:buChar char="-"/>
            </a:pPr>
            <a:r>
              <a:rPr lang="nl"/>
              <a:t>Distinction is intention</a:t>
            </a:r>
            <a:endParaRPr/>
          </a:p>
          <a:p>
            <a:pPr indent="-298450" lvl="0" marL="457200" rtl="0" algn="l">
              <a:spcBef>
                <a:spcPts val="0"/>
              </a:spcBef>
              <a:spcAft>
                <a:spcPts val="0"/>
              </a:spcAft>
              <a:buSzPts val="1100"/>
              <a:buChar char="-"/>
            </a:pPr>
            <a:r>
              <a:rPr lang="nl"/>
              <a:t>State: clock cycles in logic function</a:t>
            </a:r>
            <a:endParaRPr/>
          </a:p>
          <a:p>
            <a:pPr indent="-298450" lvl="0" marL="457200" rtl="0" algn="l">
              <a:spcBef>
                <a:spcPts val="0"/>
              </a:spcBef>
              <a:spcAft>
                <a:spcPts val="0"/>
              </a:spcAft>
              <a:buSzPts val="1100"/>
              <a:buChar char="-"/>
            </a:pPr>
            <a:r>
              <a:rPr lang="nl"/>
              <a:t>Latency: pipelining/meeting timing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SUS creates a major abstraction by dividing the registers in two categories. State and latency registers. </a:t>
            </a:r>
            <a:br>
              <a:rPr lang="nl"/>
            </a:br>
            <a:br>
              <a:rPr lang="nl"/>
            </a:br>
            <a:r>
              <a:rPr lang="nl"/>
              <a:t>The distinction is programmer intention: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State registers are for when you want to move data across clock cycles as part of the logic’s function.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Latency registers are purely for pipelining and meeting timing. </a:t>
            </a:r>
            <a:br>
              <a:rPr lang="nl"/>
            </a:br>
            <a:br>
              <a:rPr lang="nl"/>
            </a:br>
            <a:r>
              <a:rPr lang="nl"/>
              <a:t>In the rest of the slides, state registers are blue, and latency registers yellow.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cfd2b3d60f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cfd2b3d60f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Just state, same as normal</a:t>
            </a:r>
            <a:endParaRPr/>
          </a:p>
          <a:p>
            <a:pPr indent="-298450" lvl="0" marL="457200" rtl="0" algn="l">
              <a:spcBef>
                <a:spcPts val="0"/>
              </a:spcBef>
              <a:spcAft>
                <a:spcPts val="0"/>
              </a:spcAft>
              <a:buSzPts val="1100"/>
              <a:buChar char="-"/>
            </a:pPr>
            <a:r>
              <a:rPr lang="nl"/>
              <a:t>one elem per clock</a:t>
            </a:r>
            <a:endParaRPr/>
          </a:p>
          <a:p>
            <a:pPr indent="-298450" lvl="0" marL="457200" rtl="0" algn="l">
              <a:spcBef>
                <a:spcPts val="0"/>
              </a:spcBef>
              <a:spcAft>
                <a:spcPts val="0"/>
              </a:spcAft>
              <a:buSzPts val="1100"/>
              <a:buChar char="-"/>
            </a:pPr>
            <a:r>
              <a:rPr lang="nl"/>
              <a:t>explicit use of regs in logic</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Here is a small </a:t>
            </a:r>
            <a:r>
              <a:rPr lang="nl"/>
              <a:t>example</a:t>
            </a:r>
            <a:r>
              <a:rPr lang="nl"/>
              <a:t> of just state registers. State registers</a:t>
            </a:r>
            <a:r>
              <a:rPr lang="nl"/>
              <a:t> are exactly the</a:t>
            </a:r>
            <a:r>
              <a:rPr lang="nl"/>
              <a:t> same as you would find in other HDLs like Verilog or VHDL. </a:t>
            </a:r>
            <a:br>
              <a:rPr lang="nl"/>
            </a:br>
            <a:endParaRPr/>
          </a:p>
          <a:p>
            <a:pPr indent="0" lvl="0" marL="0" rtl="0" algn="l">
              <a:spcBef>
                <a:spcPts val="0"/>
              </a:spcBef>
              <a:spcAft>
                <a:spcPts val="0"/>
              </a:spcAft>
              <a:buNone/>
            </a:pPr>
            <a:r>
              <a:rPr lang="nl"/>
              <a:t>This </a:t>
            </a:r>
            <a:r>
              <a:rPr lang="nl"/>
              <a:t>fibonacci</a:t>
            </a:r>
            <a:r>
              <a:rPr lang="nl"/>
              <a:t> module generates the sequence one element per clock cycle. </a:t>
            </a:r>
            <a:endParaRPr/>
          </a:p>
          <a:p>
            <a:pPr indent="0" lvl="0" marL="0" rtl="0" algn="l">
              <a:spcBef>
                <a:spcPts val="0"/>
              </a:spcBef>
              <a:spcAft>
                <a:spcPts val="0"/>
              </a:spcAft>
              <a:buNone/>
            </a:pPr>
            <a:br>
              <a:rPr lang="nl"/>
            </a:br>
            <a:r>
              <a:rPr lang="nl"/>
              <a:t>In this example we explicitly want to move data across clock cycles as part of the design’s functioning.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cfd2b3d60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cfd2b3d60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Latency used timing</a:t>
            </a:r>
            <a:endParaRPr/>
          </a:p>
          <a:p>
            <a:pPr indent="-298450" lvl="0" marL="457200" rtl="0" algn="l">
              <a:spcBef>
                <a:spcPts val="0"/>
              </a:spcBef>
              <a:spcAft>
                <a:spcPts val="0"/>
              </a:spcAft>
              <a:buSzPts val="1100"/>
              <a:buChar char="-"/>
            </a:pPr>
            <a:r>
              <a:rPr lang="nl"/>
              <a:t>Not allowed to affect functionality</a:t>
            </a:r>
            <a:endParaRPr/>
          </a:p>
          <a:p>
            <a:pPr indent="-298450" lvl="0" marL="457200" rtl="0" algn="l">
              <a:spcBef>
                <a:spcPts val="0"/>
              </a:spcBef>
              <a:spcAft>
                <a:spcPts val="0"/>
              </a:spcAft>
              <a:buSzPts val="1100"/>
              <a:buChar char="-"/>
            </a:pPr>
            <a:r>
              <a:rPr lang="nl"/>
              <a:t>17th pow i</a:t>
            </a:r>
            <a:endParaRPr/>
          </a:p>
          <a:p>
            <a:pPr indent="-298450" lvl="0" marL="457200" rtl="0" algn="l">
              <a:spcBef>
                <a:spcPts val="0"/>
              </a:spcBef>
              <a:spcAft>
                <a:spcPts val="0"/>
              </a:spcAft>
              <a:buSzPts val="1100"/>
              <a:buChar char="-"/>
            </a:pPr>
            <a:r>
              <a:rPr lang="nl"/>
              <a:t>i*i 4 times</a:t>
            </a:r>
            <a:endParaRPr/>
          </a:p>
          <a:p>
            <a:pPr indent="-298450" lvl="0" marL="457200" rtl="0" algn="l">
              <a:spcBef>
                <a:spcPts val="0"/>
              </a:spcBef>
              <a:spcAft>
                <a:spcPts val="0"/>
              </a:spcAft>
              <a:buSzPts val="1100"/>
              <a:buChar char="-"/>
            </a:pPr>
            <a:r>
              <a:rPr lang="nl"/>
              <a:t>multiply by original</a:t>
            </a:r>
            <a:endParaRPr/>
          </a:p>
          <a:p>
            <a:pPr indent="-298450" lvl="0" marL="457200" rtl="0" algn="l">
              <a:spcBef>
                <a:spcPts val="0"/>
              </a:spcBef>
              <a:spcAft>
                <a:spcPts val="0"/>
              </a:spcAft>
              <a:buSzPts val="1100"/>
              <a:buChar char="-"/>
            </a:pPr>
            <a:r>
              <a:rPr lang="nl"/>
              <a:t>add latency on one branch, compiler adds to sync</a:t>
            </a:r>
            <a:endParaRPr/>
          </a:p>
          <a:p>
            <a:pPr indent="-298450" lvl="0" marL="457200" rtl="0" algn="l">
              <a:spcBef>
                <a:spcPts val="0"/>
              </a:spcBef>
              <a:spcAft>
                <a:spcPts val="0"/>
              </a:spcAft>
              <a:buSzPts val="1100"/>
              <a:buChar char="-"/>
            </a:pPr>
            <a:r>
              <a:rPr lang="nl"/>
              <a:t>Most languages support this</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Latency registers on the other hand, are exclusively used to meet timing. They are not allowed to affect the functionality of the design.  (aside from the added latency of course).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In this case, we have a module that computes the 17th power of i. It multiplies i with itself four times, and then multiplies the original with that. We add some latency registers here and the compiler automatically adds extra registers to keep everything in sync.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It is implemented by keeping track of a value called “absolute latency”, which is increased for every latency register the code passes. That’s the number after the quote.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So far so good, this is a feature most pipeline design languages support.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cfd2b3d60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cfd2b3d60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Design freedom -&gt; ports differ latencies</a:t>
            </a:r>
            <a:endParaRPr/>
          </a:p>
          <a:p>
            <a:pPr indent="-298450" lvl="0" marL="457200" rtl="0" algn="l">
              <a:spcBef>
                <a:spcPts val="0"/>
              </a:spcBef>
              <a:spcAft>
                <a:spcPts val="0"/>
              </a:spcAft>
              <a:buSzPts val="1100"/>
              <a:buChar char="-"/>
            </a:pPr>
            <a:r>
              <a:rPr lang="nl"/>
              <a:t>factor list is 0, add_to 2 and so on</a:t>
            </a:r>
            <a:endParaRPr/>
          </a:p>
          <a:p>
            <a:pPr indent="-298450" lvl="0" marL="457200" rtl="0" algn="l">
              <a:spcBef>
                <a:spcPts val="0"/>
              </a:spcBef>
              <a:spcAft>
                <a:spcPts val="0"/>
              </a:spcAft>
              <a:buSzPts val="1100"/>
              <a:buChar char="-"/>
            </a:pPr>
            <a:r>
              <a:rPr lang="nl"/>
              <a:t>differences in port latencies used for counting for modules using it</a:t>
            </a:r>
            <a:endParaRPr/>
          </a:p>
          <a:p>
            <a:pPr indent="-298450" lvl="0" marL="457200" rtl="0" algn="l">
              <a:spcBef>
                <a:spcPts val="0"/>
              </a:spcBef>
              <a:spcAft>
                <a:spcPts val="0"/>
              </a:spcAft>
              <a:buSzPts val="1100"/>
              <a:buChar char="-"/>
            </a:pPr>
            <a:r>
              <a:rPr lang="nl"/>
              <a:t>latencies don’t need be specified, Latency Count infers them</a:t>
            </a:r>
            <a:endParaRPr/>
          </a:p>
          <a:p>
            <a:pPr indent="-298450" lvl="0" marL="457200" rtl="0" algn="l">
              <a:spcBef>
                <a:spcPts val="0"/>
              </a:spcBef>
              <a:spcAft>
                <a:spcPts val="0"/>
              </a:spcAft>
              <a:buSzPts val="1100"/>
              <a:buChar char="-"/>
            </a:pPr>
            <a:r>
              <a:rPr lang="nl"/>
              <a:t>inference makes latency count not as trivial as at a glance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To allow as much design freedom as possible, SUS allows ports to be at different latencies. For example in this case the factors list is at Absolute Latency 0, add_to 2, and so on. When the module is instantiated the port latencies are used in the parent module.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These latencies don’t need to be specified, as a big part of Latency Counting is inference of them. But this inference makes latency counting not as trivial of a problem as it might seem at first glance. </a:t>
            </a:r>
            <a:br>
              <a:rPr lang="nl"/>
            </a:br>
            <a:br>
              <a:rPr lang="nl"/>
            </a:br>
            <a:r>
              <a:rPr lang="nl"/>
              <a:t>What is important to see here is that any module has only one correct canonical representation.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cfd2b3d60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cfd2b3d60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Possible to override inferred</a:t>
            </a:r>
            <a:endParaRPr/>
          </a:p>
          <a:p>
            <a:pPr indent="-298450" lvl="0" marL="457200" rtl="0" algn="l">
              <a:spcBef>
                <a:spcPts val="0"/>
              </a:spcBef>
              <a:spcAft>
                <a:spcPts val="0"/>
              </a:spcAft>
              <a:buSzPts val="1100"/>
              <a:buChar char="-"/>
            </a:pPr>
            <a:r>
              <a:rPr lang="nl"/>
              <a:t>Forced to instantiate 5</a:t>
            </a:r>
            <a:endParaRPr/>
          </a:p>
          <a:p>
            <a:pPr indent="-298450" lvl="0" marL="457200" rtl="0" algn="l">
              <a:spcBef>
                <a:spcPts val="0"/>
              </a:spcBef>
              <a:spcAft>
                <a:spcPts val="0"/>
              </a:spcAft>
              <a:buSzPts val="1100"/>
              <a:buChar char="-"/>
            </a:pPr>
            <a:r>
              <a:rPr lang="nl"/>
              <a:t>ordinarily wire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It is however possible to override the inferred latencies with custom ones, as in this example. Here it is forced to instantiate 5 registers, where it would have ordinarily been a wire.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cfd2b3d60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cfd2b3d60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Multiple interfaces</a:t>
            </a:r>
            <a:endParaRPr/>
          </a:p>
          <a:p>
            <a:pPr indent="-298450" lvl="0" marL="457200" rtl="0" algn="l">
              <a:spcBef>
                <a:spcPts val="0"/>
              </a:spcBef>
              <a:spcAft>
                <a:spcPts val="0"/>
              </a:spcAft>
              <a:buSzPts val="1100"/>
              <a:buChar char="-"/>
            </a:pPr>
            <a:r>
              <a:rPr lang="nl"/>
              <a:t>Each has latency “origin”</a:t>
            </a:r>
            <a:endParaRPr/>
          </a:p>
          <a:p>
            <a:pPr indent="-298450" lvl="0" marL="457200" rtl="0" algn="l">
              <a:spcBef>
                <a:spcPts val="0"/>
              </a:spcBef>
              <a:spcAft>
                <a:spcPts val="0"/>
              </a:spcAft>
              <a:buSzPts val="1100"/>
              <a:buChar char="-"/>
            </a:pPr>
            <a:r>
              <a:rPr lang="nl"/>
              <a:t>Interfaces are independent</a:t>
            </a:r>
            <a:endParaRPr/>
          </a:p>
          <a:p>
            <a:pPr indent="-298450" lvl="0" marL="457200" rtl="0" algn="l">
              <a:spcBef>
                <a:spcPts val="0"/>
              </a:spcBef>
              <a:spcAft>
                <a:spcPts val="0"/>
              </a:spcAft>
              <a:buSzPts val="1100"/>
              <a:buChar char="-"/>
            </a:pPr>
            <a:r>
              <a:rPr lang="nl"/>
              <a:t>Ports on write are “correlated”, no direct connection to read side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Modules can have multiple interfaces, each of which has its own latency ‘origin’. Interfaces are independent. Like in this example, all ports on the write side of the fifo are “correlated”, but they don’t have a direct connection to the ports in the read side.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cfd2b3d60f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cfd2b3d60f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FIFO Impl</a:t>
            </a:r>
            <a:endParaRPr/>
          </a:p>
          <a:p>
            <a:pPr indent="-298450" lvl="0" marL="457200" rtl="0" algn="l">
              <a:spcBef>
                <a:spcPts val="0"/>
              </a:spcBef>
              <a:spcAft>
                <a:spcPts val="0"/>
              </a:spcAft>
              <a:buSzPts val="1100"/>
              <a:buChar char="-"/>
            </a:pPr>
            <a:r>
              <a:rPr lang="nl"/>
              <a:t>Can see two interfaces</a:t>
            </a:r>
            <a:endParaRPr/>
          </a:p>
          <a:p>
            <a:pPr indent="-298450" lvl="0" marL="457200" rtl="0" algn="l">
              <a:spcBef>
                <a:spcPts val="0"/>
              </a:spcBef>
              <a:spcAft>
                <a:spcPts val="0"/>
              </a:spcAft>
              <a:buSzPts val="1100"/>
              <a:buChar char="-"/>
            </a:pPr>
            <a:r>
              <a:rPr lang="nl"/>
              <a:t>barrier shown triangles</a:t>
            </a:r>
            <a:endParaRPr/>
          </a:p>
          <a:p>
            <a:pPr indent="-298450" lvl="0" marL="457200" rtl="0" algn="l">
              <a:spcBef>
                <a:spcPts val="0"/>
              </a:spcBef>
              <a:spcAft>
                <a:spcPts val="0"/>
              </a:spcAft>
              <a:buSzPts val="1100"/>
              <a:buChar char="-"/>
            </a:pPr>
            <a:r>
              <a:rPr lang="nl"/>
              <a:t>no latency info carried</a:t>
            </a:r>
            <a:endParaRPr/>
          </a:p>
          <a:p>
            <a:pPr indent="-298450" lvl="0" marL="457200" rtl="0" algn="l">
              <a:spcBef>
                <a:spcPts val="0"/>
              </a:spcBef>
              <a:spcAft>
                <a:spcPts val="0"/>
              </a:spcAft>
              <a:buSzPts val="1100"/>
              <a:buChar char="-"/>
            </a:pPr>
            <a:r>
              <a:rPr lang="nl"/>
              <a:t>allow slack for user code</a:t>
            </a:r>
            <a:endParaRPr/>
          </a:p>
          <a:p>
            <a:pPr indent="-298450" lvl="0" marL="457200" rtl="0" algn="l">
              <a:spcBef>
                <a:spcPts val="0"/>
              </a:spcBef>
              <a:spcAft>
                <a:spcPts val="0"/>
              </a:spcAft>
              <a:buSzPts val="1100"/>
              <a:buChar char="-"/>
            </a:pPr>
            <a:r>
              <a:rPr lang="nl"/>
              <a:t>more interesting things:</a:t>
            </a:r>
            <a:endParaRPr/>
          </a:p>
          <a:p>
            <a:pPr indent="-298450" lvl="1" marL="914400" rtl="0" algn="l">
              <a:spcBef>
                <a:spcPts val="0"/>
              </a:spcBef>
              <a:spcAft>
                <a:spcPts val="0"/>
              </a:spcAft>
              <a:buSzPts val="1100"/>
              <a:buChar char="-"/>
            </a:pPr>
            <a:r>
              <a:rPr lang="nl"/>
              <a:t>added latency shows possible to combine</a:t>
            </a:r>
            <a:endParaRPr/>
          </a:p>
          <a:p>
            <a:pPr indent="-298450" lvl="1" marL="914400" rtl="0" algn="l">
              <a:spcBef>
                <a:spcPts val="0"/>
              </a:spcBef>
              <a:spcAft>
                <a:spcPts val="0"/>
              </a:spcAft>
              <a:buSzPts val="1100"/>
              <a:buChar char="-"/>
            </a:pPr>
            <a:r>
              <a:rPr lang="nl"/>
              <a:t>offset by -4 to allow write slack </a:t>
            </a:r>
            <a:endParaRPr/>
          </a:p>
          <a:p>
            <a:pPr indent="-298450" lvl="1" marL="914400" rtl="0" algn="l">
              <a:spcBef>
                <a:spcPts val="0"/>
              </a:spcBef>
              <a:spcAft>
                <a:spcPts val="0"/>
              </a:spcAft>
              <a:buSzPts val="1100"/>
              <a:buChar char="-"/>
            </a:pPr>
            <a:r>
              <a:rPr lang="nl"/>
              <a:t>crossing and offset are “breaking out”</a:t>
            </a:r>
            <a:endParaRPr/>
          </a:p>
          <a:p>
            <a:pPr indent="-298450" lvl="1" marL="914400" rtl="0" algn="l">
              <a:spcBef>
                <a:spcPts val="0"/>
              </a:spcBef>
              <a:spcAft>
                <a:spcPts val="0"/>
              </a:spcAft>
              <a:buSzPts val="1100"/>
              <a:buChar char="-"/>
            </a:pPr>
            <a:r>
              <a:rPr lang="nl"/>
              <a:t>Similar to Clock Domain Crossing - SUS way of CDC</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Diving into the FIFO implementation, we can distinctly see the two interfaces. </a:t>
            </a:r>
            <a:r>
              <a:rPr lang="nl"/>
              <a:t>When crossing an interface barrier, as shown with the white triangles, no latency information is carried over.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This FIFO allows for four cycles of delay between the ready and write ports, to allows some slack for the data provider’s implementation.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There’s several more interesting things in this image. For example we added a latency stage to the ready port, because this comparison could be expensive. </a:t>
            </a:r>
            <a:br>
              <a:rPr lang="nl"/>
            </a:br>
            <a:br>
              <a:rPr lang="nl"/>
            </a:br>
            <a:r>
              <a:rPr lang="nl"/>
              <a:t>Crossing the interface barrier is kind of breaking out of the latency counting system though, as is the offset -4 block.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Finally you can notice that this is very similar to a clock domain crossing. In fact, interfaces are the place where clock domain crossings are done in SUS.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cfd2b3d60f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cfd2b3d60f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Offset impl using latency cuts</a:t>
            </a:r>
            <a:endParaRPr/>
          </a:p>
          <a:p>
            <a:pPr indent="-298450" lvl="0" marL="457200" rtl="0" algn="l">
              <a:spcBef>
                <a:spcPts val="0"/>
              </a:spcBef>
              <a:spcAft>
                <a:spcPts val="0"/>
              </a:spcAft>
              <a:buSzPts val="1100"/>
              <a:buChar char="-"/>
            </a:pPr>
            <a:r>
              <a:rPr lang="nl"/>
              <a:t>anonymous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As an aside, it’s actually possible to implement latency offsets using only latency cuts. Simply pass the data through an anonymous interface and back.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d2aaaca66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d2aaaca66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d2aaaca6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d2aaaca6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d2aaaca6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d2aaaca6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d2aaaca6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d2aaaca6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d26addedf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d26addedf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cfd2b3d60f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cfd2b3d60f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thank</a:t>
            </a:r>
            <a:endParaRPr/>
          </a:p>
          <a:p>
            <a:pPr indent="-298450" lvl="0" marL="457200" rtl="0" algn="l">
              <a:spcBef>
                <a:spcPts val="0"/>
              </a:spcBef>
              <a:spcAft>
                <a:spcPts val="0"/>
              </a:spcAft>
              <a:buSzPts val="1100"/>
              <a:buChar char="-"/>
            </a:pPr>
            <a:r>
              <a:rPr lang="nl"/>
              <a:t>LC small part of SUS</a:t>
            </a:r>
            <a:endParaRPr/>
          </a:p>
          <a:p>
            <a:pPr indent="-298450" lvl="0" marL="457200" rtl="0" algn="l">
              <a:spcBef>
                <a:spcPts val="0"/>
              </a:spcBef>
              <a:spcAft>
                <a:spcPts val="0"/>
              </a:spcAft>
              <a:buSzPts val="1100"/>
              <a:buChar char="-"/>
            </a:pPr>
            <a:r>
              <a:rPr lang="nl"/>
              <a:t>more to discuss, all I have time</a:t>
            </a:r>
            <a:endParaRPr/>
          </a:p>
          <a:p>
            <a:pPr indent="-298450" lvl="1" marL="914400" rtl="0" algn="l">
              <a:spcBef>
                <a:spcPts val="0"/>
              </a:spcBef>
              <a:spcAft>
                <a:spcPts val="0"/>
              </a:spcAft>
              <a:buSzPts val="1100"/>
              <a:buChar char="-"/>
            </a:pPr>
            <a:r>
              <a:rPr lang="nl"/>
              <a:t>such as inferring submodule latencies</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Right then, I hope you all enjoyed my talk. </a:t>
            </a:r>
            <a:r>
              <a:rPr lang="nl"/>
              <a:t>Of course latency counting is only a small part of the SUS compiler, and there’s much much more to discuss, but this is all I have time for.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d2aaaca666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d2aaaca666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200"/>
              </a:spcBef>
              <a:spcAft>
                <a:spcPts val="0"/>
              </a:spcAft>
              <a:buClr>
                <a:schemeClr val="dk1"/>
              </a:buClr>
              <a:buSzPts val="1400"/>
              <a:buChar char="○"/>
              <a:defRPr/>
            </a:lvl2pPr>
            <a:lvl3pPr indent="-317500" lvl="2" marL="1371600" rtl="0" algn="l">
              <a:lnSpc>
                <a:spcPct val="90000"/>
              </a:lnSpc>
              <a:spcBef>
                <a:spcPts val="1200"/>
              </a:spcBef>
              <a:spcAft>
                <a:spcPts val="0"/>
              </a:spcAft>
              <a:buClr>
                <a:schemeClr val="dk1"/>
              </a:buClr>
              <a:buSzPts val="1400"/>
              <a:buChar char="■"/>
              <a:defRPr/>
            </a:lvl3pPr>
            <a:lvl4pPr indent="-317500" lvl="3" marL="1828800" rtl="0" algn="l">
              <a:lnSpc>
                <a:spcPct val="90000"/>
              </a:lnSpc>
              <a:spcBef>
                <a:spcPts val="1200"/>
              </a:spcBef>
              <a:spcAft>
                <a:spcPts val="0"/>
              </a:spcAft>
              <a:buClr>
                <a:schemeClr val="dk1"/>
              </a:buClr>
              <a:buSzPts val="1400"/>
              <a:buChar char="●"/>
              <a:defRPr/>
            </a:lvl4pPr>
            <a:lvl5pPr indent="-317500" lvl="4" marL="2286000" rtl="0" algn="l">
              <a:lnSpc>
                <a:spcPct val="90000"/>
              </a:lnSpc>
              <a:spcBef>
                <a:spcPts val="1200"/>
              </a:spcBef>
              <a:spcAft>
                <a:spcPts val="0"/>
              </a:spcAft>
              <a:buClr>
                <a:schemeClr val="dk1"/>
              </a:buClr>
              <a:buSzPts val="1400"/>
              <a:buChar char="○"/>
              <a:defRPr/>
            </a:lvl5pPr>
            <a:lvl6pPr indent="-317500" lvl="5" marL="2743200" rtl="0" algn="l">
              <a:lnSpc>
                <a:spcPct val="90000"/>
              </a:lnSpc>
              <a:spcBef>
                <a:spcPts val="1200"/>
              </a:spcBef>
              <a:spcAft>
                <a:spcPts val="0"/>
              </a:spcAft>
              <a:buClr>
                <a:schemeClr val="dk1"/>
              </a:buClr>
              <a:buSzPts val="1400"/>
              <a:buChar char="■"/>
              <a:defRPr/>
            </a:lvl6pPr>
            <a:lvl7pPr indent="-317500" lvl="6" marL="3200400" rtl="0" algn="l">
              <a:lnSpc>
                <a:spcPct val="90000"/>
              </a:lnSpc>
              <a:spcBef>
                <a:spcPts val="1200"/>
              </a:spcBef>
              <a:spcAft>
                <a:spcPts val="0"/>
              </a:spcAft>
              <a:buClr>
                <a:schemeClr val="dk1"/>
              </a:buClr>
              <a:buSzPts val="1400"/>
              <a:buChar char="●"/>
              <a:defRPr/>
            </a:lvl7pPr>
            <a:lvl8pPr indent="-317500" lvl="7" marL="3657600" rtl="0" algn="l">
              <a:lnSpc>
                <a:spcPct val="90000"/>
              </a:lnSpc>
              <a:spcBef>
                <a:spcPts val="1200"/>
              </a:spcBef>
              <a:spcAft>
                <a:spcPts val="0"/>
              </a:spcAft>
              <a:buClr>
                <a:schemeClr val="dk1"/>
              </a:buClr>
              <a:buSzPts val="1400"/>
              <a:buChar char="○"/>
              <a:defRPr/>
            </a:lvl8pPr>
            <a:lvl9pPr indent="-317500" lvl="8" marL="4114800" rtl="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31.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35.png"/><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34.png"/><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37.png"/><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39.png"/><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46.png"/><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nl" sz="3300"/>
              <a:t>Design of the SUS Language</a:t>
            </a:r>
            <a:endParaRPr sz="3300"/>
          </a:p>
        </p:txBody>
      </p:sp>
      <p:sp>
        <p:nvSpPr>
          <p:cNvPr id="61" name="Google Shape;61;p14"/>
          <p:cNvSpPr txBox="1"/>
          <p:nvPr/>
        </p:nvSpPr>
        <p:spPr>
          <a:xfrm>
            <a:off x="715250" y="3768000"/>
            <a:ext cx="3354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 sz="1800">
                <a:solidFill>
                  <a:schemeClr val="dk2"/>
                </a:solidFill>
              </a:rPr>
              <a:t>Lennart Van Hirtum</a:t>
            </a:r>
            <a:endParaRPr sz="1800">
              <a:solidFill>
                <a:schemeClr val="dk2"/>
              </a:solidFill>
            </a:endParaRPr>
          </a:p>
          <a:p>
            <a:pPr indent="0" lvl="0" marL="0" rtl="0" algn="l">
              <a:spcBef>
                <a:spcPts val="0"/>
              </a:spcBef>
              <a:spcAft>
                <a:spcPts val="0"/>
              </a:spcAft>
              <a:buNone/>
            </a:pPr>
            <a:r>
              <a:rPr lang="nl" sz="1800">
                <a:solidFill>
                  <a:schemeClr val="dk2"/>
                </a:solidFill>
              </a:rPr>
              <a:t>PC2 - Paderborn University</a:t>
            </a:r>
            <a:endParaRPr sz="1800">
              <a:solidFill>
                <a:schemeClr val="dk2"/>
              </a:solidFill>
            </a:endParaRPr>
          </a:p>
        </p:txBody>
      </p:sp>
      <p:sp>
        <p:nvSpPr>
          <p:cNvPr id="62" name="Google Shape;62;p14"/>
          <p:cNvSpPr txBox="1"/>
          <p:nvPr/>
        </p:nvSpPr>
        <p:spPr>
          <a:xfrm>
            <a:off x="4836900" y="3768000"/>
            <a:ext cx="3995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 sz="1800">
                <a:solidFill>
                  <a:schemeClr val="dk2"/>
                </a:solidFill>
              </a:rPr>
              <a:t>Prof. Christian Plessl</a:t>
            </a:r>
            <a:endParaRPr sz="1800">
              <a:solidFill>
                <a:schemeClr val="dk2"/>
              </a:solidFill>
            </a:endParaRPr>
          </a:p>
          <a:p>
            <a:pPr indent="0" lvl="0" marL="0" rtl="0" algn="l">
              <a:spcBef>
                <a:spcPts val="0"/>
              </a:spcBef>
              <a:spcAft>
                <a:spcPts val="0"/>
              </a:spcAft>
              <a:buClr>
                <a:schemeClr val="dk1"/>
              </a:buClr>
              <a:buSzPts val="1100"/>
              <a:buFont typeface="Arial"/>
              <a:buNone/>
            </a:pPr>
            <a:r>
              <a:rPr lang="nl" sz="1800">
                <a:solidFill>
                  <a:schemeClr val="dk2"/>
                </a:solidFill>
              </a:rPr>
              <a:t>PC2 - Paderborn University</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Outline</a:t>
            </a:r>
            <a:endParaRPr/>
          </a:p>
        </p:txBody>
      </p:sp>
      <p:sp>
        <p:nvSpPr>
          <p:cNvPr id="68" name="Google Shape;68;p1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317500" lvl="0" marL="457200" rtl="0" algn="l">
              <a:lnSpc>
                <a:spcPct val="150000"/>
              </a:lnSpc>
              <a:spcBef>
                <a:spcPts val="800"/>
              </a:spcBef>
              <a:spcAft>
                <a:spcPts val="0"/>
              </a:spcAft>
              <a:buSzPts val="1400"/>
              <a:buChar char="●"/>
            </a:pPr>
            <a:r>
              <a:rPr lang="nl"/>
              <a:t>Motivation &amp; where others fall short</a:t>
            </a:r>
            <a:endParaRPr/>
          </a:p>
          <a:p>
            <a:pPr indent="-317500" lvl="0" marL="457200" rtl="0" algn="l">
              <a:lnSpc>
                <a:spcPct val="150000"/>
              </a:lnSpc>
              <a:spcBef>
                <a:spcPts val="0"/>
              </a:spcBef>
              <a:spcAft>
                <a:spcPts val="0"/>
              </a:spcAft>
              <a:buSzPts val="1400"/>
              <a:buChar char="●"/>
            </a:pPr>
            <a:r>
              <a:rPr lang="nl"/>
              <a:t>SUS Design Process</a:t>
            </a:r>
            <a:endParaRPr/>
          </a:p>
          <a:p>
            <a:pPr indent="-317500" lvl="0" marL="457200" rtl="0" algn="l">
              <a:lnSpc>
                <a:spcPct val="150000"/>
              </a:lnSpc>
              <a:spcBef>
                <a:spcPts val="0"/>
              </a:spcBef>
              <a:spcAft>
                <a:spcPts val="0"/>
              </a:spcAft>
              <a:buSzPts val="1400"/>
              <a:buChar char="●"/>
            </a:pPr>
            <a:r>
              <a:rPr lang="nl"/>
              <a:t>Example SUS Code</a:t>
            </a:r>
            <a:endParaRPr/>
          </a:p>
          <a:p>
            <a:pPr indent="-317500" lvl="0" marL="457200" rtl="0" algn="l">
              <a:lnSpc>
                <a:spcPct val="150000"/>
              </a:lnSpc>
              <a:spcBef>
                <a:spcPts val="0"/>
              </a:spcBef>
              <a:spcAft>
                <a:spcPts val="0"/>
              </a:spcAft>
              <a:buSzPts val="1400"/>
              <a:buChar char="●"/>
            </a:pPr>
            <a:r>
              <a:rPr lang="nl"/>
              <a:t>Typing</a:t>
            </a:r>
            <a:endParaRPr/>
          </a:p>
          <a:p>
            <a:pPr indent="-317500" lvl="0" marL="457200" rtl="0" algn="l">
              <a:lnSpc>
                <a:spcPct val="150000"/>
              </a:lnSpc>
              <a:spcBef>
                <a:spcPts val="0"/>
              </a:spcBef>
              <a:spcAft>
                <a:spcPts val="0"/>
              </a:spcAft>
              <a:buSzPts val="1400"/>
              <a:buChar char="●"/>
            </a:pPr>
            <a:r>
              <a:rPr lang="nl"/>
              <a:t>Latency Counting</a:t>
            </a:r>
            <a:endParaRPr/>
          </a:p>
          <a:p>
            <a:pPr indent="-317500" lvl="0" marL="457200" rtl="0" algn="l">
              <a:lnSpc>
                <a:spcPct val="150000"/>
              </a:lnSpc>
              <a:spcBef>
                <a:spcPts val="0"/>
              </a:spcBef>
              <a:spcAft>
                <a:spcPts val="0"/>
              </a:spcAft>
              <a:buSzPts val="1400"/>
              <a:buChar char="●"/>
            </a:pPr>
            <a:r>
              <a:rPr lang="nl"/>
              <a:t>Implementation &amp; Future</a:t>
            </a:r>
            <a:endParaRPr/>
          </a:p>
          <a:p>
            <a:pPr indent="-317500" lvl="0" marL="457200" rtl="0" algn="l">
              <a:lnSpc>
                <a:spcPct val="150000"/>
              </a:lnSpc>
              <a:spcBef>
                <a:spcPts val="0"/>
              </a:spcBef>
              <a:spcAft>
                <a:spcPts val="0"/>
              </a:spcAft>
              <a:buSzPts val="1400"/>
              <a:buChar char="●"/>
            </a:pPr>
            <a:r>
              <a:rPr lang="nl"/>
              <a:t>Live Demo</a:t>
            </a:r>
            <a:endParaRPr/>
          </a:p>
        </p:txBody>
      </p:sp>
      <p:pic>
        <p:nvPicPr>
          <p:cNvPr id="69" name="Google Shape;69;p15"/>
          <p:cNvPicPr preferRelativeResize="0"/>
          <p:nvPr/>
        </p:nvPicPr>
        <p:blipFill>
          <a:blip r:embed="rId3">
            <a:alphaModFix/>
          </a:blip>
          <a:stretch>
            <a:fillRect/>
          </a:stretch>
        </p:blipFill>
        <p:spPr>
          <a:xfrm rot="-5400000">
            <a:off x="8243672" y="113325"/>
            <a:ext cx="1296775" cy="1578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Motivation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What I want out of an HDL</a:t>
            </a:r>
            <a:endParaRPr/>
          </a:p>
        </p:txBody>
      </p:sp>
      <p:sp>
        <p:nvSpPr>
          <p:cNvPr id="80" name="Google Shape;80;p1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317500" lvl="0" marL="457200" rtl="0" algn="l">
              <a:lnSpc>
                <a:spcPct val="150000"/>
              </a:lnSpc>
              <a:spcBef>
                <a:spcPts val="800"/>
              </a:spcBef>
              <a:spcAft>
                <a:spcPts val="0"/>
              </a:spcAft>
              <a:buSzPts val="1400"/>
              <a:buChar char="-"/>
            </a:pPr>
            <a:r>
              <a:rPr lang="nl"/>
              <a:t>Full control over generated hardware</a:t>
            </a:r>
            <a:endParaRPr/>
          </a:p>
          <a:p>
            <a:pPr indent="-317500" lvl="0" marL="457200" rtl="0" algn="l">
              <a:lnSpc>
                <a:spcPct val="115000"/>
              </a:lnSpc>
              <a:spcBef>
                <a:spcPts val="0"/>
              </a:spcBef>
              <a:spcAft>
                <a:spcPts val="0"/>
              </a:spcAft>
              <a:buSzPts val="1400"/>
              <a:buChar char="-"/>
            </a:pPr>
            <a:r>
              <a:rPr lang="nl"/>
              <a:t>All HDL code must be Synthesizeable</a:t>
            </a:r>
            <a:endParaRPr/>
          </a:p>
          <a:p>
            <a:pPr indent="-317500" lvl="1" marL="914400" rtl="0" algn="l">
              <a:lnSpc>
                <a:spcPct val="150000"/>
              </a:lnSpc>
              <a:spcBef>
                <a:spcPts val="0"/>
              </a:spcBef>
              <a:spcAft>
                <a:spcPts val="0"/>
              </a:spcAft>
              <a:buSzPts val="1400"/>
              <a:buChar char="-"/>
            </a:pPr>
            <a:r>
              <a:rPr lang="nl"/>
              <a:t>Keep your simulations in software like CocoTB!</a:t>
            </a:r>
            <a:endParaRPr/>
          </a:p>
          <a:p>
            <a:pPr indent="-317500" lvl="0" marL="457200" rtl="0" algn="l">
              <a:lnSpc>
                <a:spcPct val="150000"/>
              </a:lnSpc>
              <a:spcBef>
                <a:spcPts val="0"/>
              </a:spcBef>
              <a:spcAft>
                <a:spcPts val="0"/>
              </a:spcAft>
              <a:buSzPts val="1400"/>
              <a:buChar char="-"/>
            </a:pPr>
            <a:r>
              <a:rPr lang="nl"/>
              <a:t>Language must have notion of Cycle-wise timing</a:t>
            </a:r>
            <a:endParaRPr/>
          </a:p>
          <a:p>
            <a:pPr indent="-317500" lvl="0" marL="457200" rtl="0" algn="l">
              <a:lnSpc>
                <a:spcPct val="150000"/>
              </a:lnSpc>
              <a:spcBef>
                <a:spcPts val="0"/>
              </a:spcBef>
              <a:spcAft>
                <a:spcPts val="0"/>
              </a:spcAft>
              <a:buSzPts val="1400"/>
              <a:buChar char="-"/>
            </a:pPr>
            <a:r>
              <a:rPr lang="nl"/>
              <a:t>First-class Pipelining support</a:t>
            </a:r>
            <a:endParaRPr/>
          </a:p>
          <a:p>
            <a:pPr indent="-317500" lvl="0" marL="457200" rtl="0" algn="l">
              <a:lnSpc>
                <a:spcPct val="150000"/>
              </a:lnSpc>
              <a:spcBef>
                <a:spcPts val="0"/>
              </a:spcBef>
              <a:spcAft>
                <a:spcPts val="0"/>
              </a:spcAft>
              <a:buSzPts val="1400"/>
              <a:buChar char="-"/>
            </a:pPr>
            <a:r>
              <a:rPr lang="nl"/>
              <a:t>First-class IDE support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86" name="Google Shape;86;p1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0" lvl="0" marL="0" rtl="0" algn="l">
              <a:lnSpc>
                <a:spcPct val="115000"/>
              </a:lnSpc>
              <a:spcBef>
                <a:spcPts val="1200"/>
              </a:spcBef>
              <a:spcAft>
                <a:spcPts val="1200"/>
              </a:spcAft>
              <a:buNone/>
            </a:pPr>
            <a:r>
              <a:t/>
            </a:r>
            <a:endParaRPr/>
          </a:p>
        </p:txBody>
      </p:sp>
      <p:pic>
        <p:nvPicPr>
          <p:cNvPr id="87" name="Google Shape;87;p18"/>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93" name="Google Shape;93;p1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0" lvl="0" marL="0" rtl="0" algn="l">
              <a:lnSpc>
                <a:spcPct val="115000"/>
              </a:lnSpc>
              <a:spcBef>
                <a:spcPts val="1200"/>
              </a:spcBef>
              <a:spcAft>
                <a:spcPts val="1200"/>
              </a:spcAft>
              <a:buNone/>
            </a:pPr>
            <a:r>
              <a:t/>
            </a:r>
            <a:endParaRPr/>
          </a:p>
        </p:txBody>
      </p:sp>
      <p:pic>
        <p:nvPicPr>
          <p:cNvPr id="94" name="Google Shape;94;p19"/>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00" name="Google Shape;100;p2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101" name="Google Shape;101;p20"/>
          <p:cNvPicPr preferRelativeResize="0"/>
          <p:nvPr/>
        </p:nvPicPr>
        <p:blipFill>
          <a:blip r:embed="rId3">
            <a:alphaModFix/>
          </a:blip>
          <a:stretch>
            <a:fillRect/>
          </a:stretch>
        </p:blipFill>
        <p:spPr>
          <a:xfrm>
            <a:off x="0" y="67230"/>
            <a:ext cx="9211276" cy="49248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107" name="Google Shape;107;p2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0" lvl="0" marL="0" rtl="0" algn="l">
              <a:lnSpc>
                <a:spcPct val="115000"/>
              </a:lnSpc>
              <a:spcBef>
                <a:spcPts val="1200"/>
              </a:spcBef>
              <a:spcAft>
                <a:spcPts val="1200"/>
              </a:spcAft>
              <a:buNone/>
            </a:pPr>
            <a:r>
              <a:t/>
            </a:r>
            <a:endParaRPr/>
          </a:p>
        </p:txBody>
      </p:sp>
      <p:pic>
        <p:nvPicPr>
          <p:cNvPr id="108" name="Google Shape;108;p21"/>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114" name="Google Shape;114;p22"/>
          <p:cNvSpPr txBox="1"/>
          <p:nvPr>
            <p:ph idx="1" type="body"/>
          </p:nvPr>
        </p:nvSpPr>
        <p:spPr>
          <a:xfrm>
            <a:off x="628650" y="1369225"/>
            <a:ext cx="8255700" cy="35616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317500" lvl="0" marL="457200" rtl="0" algn="l">
              <a:lnSpc>
                <a:spcPct val="115000"/>
              </a:lnSpc>
              <a:spcBef>
                <a:spcPts val="0"/>
              </a:spcBef>
              <a:spcAft>
                <a:spcPts val="0"/>
              </a:spcAft>
              <a:buSzPts val="1400"/>
              <a:buChar char="-"/>
            </a:pPr>
            <a:r>
              <a:rPr b="1" lang="nl"/>
              <a:t>Embedded Generation Languages (Chisel in Scala, SystemC in C++)?</a:t>
            </a:r>
            <a:endParaRPr/>
          </a:p>
          <a:p>
            <a:pPr indent="0" lvl="0" marL="0" rtl="0" algn="l">
              <a:lnSpc>
                <a:spcPct val="115000"/>
              </a:lnSpc>
              <a:spcBef>
                <a:spcPts val="1200"/>
              </a:spcBef>
              <a:spcAft>
                <a:spcPts val="1200"/>
              </a:spcAft>
              <a:buNone/>
            </a:pPr>
            <a:r>
              <a:t/>
            </a:r>
            <a:endParaRPr b="1"/>
          </a:p>
        </p:txBody>
      </p:sp>
      <p:pic>
        <p:nvPicPr>
          <p:cNvPr id="115" name="Google Shape;115;p22"/>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121" name="Google Shape;121;p23"/>
          <p:cNvSpPr txBox="1"/>
          <p:nvPr>
            <p:ph idx="1" type="body"/>
          </p:nvPr>
        </p:nvSpPr>
        <p:spPr>
          <a:xfrm>
            <a:off x="628650" y="1369225"/>
            <a:ext cx="8255700" cy="35616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317500" lvl="0" marL="457200" rtl="0" algn="l">
              <a:lnSpc>
                <a:spcPct val="115000"/>
              </a:lnSpc>
              <a:spcBef>
                <a:spcPts val="0"/>
              </a:spcBef>
              <a:spcAft>
                <a:spcPts val="0"/>
              </a:spcAft>
              <a:buSzPts val="1400"/>
              <a:buChar char="-"/>
            </a:pPr>
            <a:r>
              <a:rPr b="1" lang="nl"/>
              <a:t>Embedded Generation Languages (Chisel in Scala, SystemC in C++)?</a:t>
            </a:r>
            <a:endParaRPr b="1"/>
          </a:p>
          <a:p>
            <a:pPr indent="-317500" lvl="1" marL="914400" rtl="0" algn="l">
              <a:lnSpc>
                <a:spcPct val="115000"/>
              </a:lnSpc>
              <a:spcBef>
                <a:spcPts val="0"/>
              </a:spcBef>
              <a:spcAft>
                <a:spcPts val="0"/>
              </a:spcAft>
              <a:buSzPts val="1400"/>
              <a:buChar char="-"/>
            </a:pPr>
            <a:r>
              <a:rPr lang="nl"/>
              <a:t>Suffer under parent language Syntax</a:t>
            </a:r>
            <a:endParaRPr/>
          </a:p>
          <a:p>
            <a:pPr indent="-317500" lvl="1" marL="914400" rtl="0" algn="l">
              <a:lnSpc>
                <a:spcPct val="115000"/>
              </a:lnSpc>
              <a:spcBef>
                <a:spcPts val="0"/>
              </a:spcBef>
              <a:spcAft>
                <a:spcPts val="0"/>
              </a:spcAft>
              <a:buSzPts val="1400"/>
              <a:buChar char="-"/>
            </a:pPr>
            <a:r>
              <a:rPr lang="nl"/>
              <a:t>Little defence against incorrect hardware</a:t>
            </a:r>
            <a:endParaRPr/>
          </a:p>
          <a:p>
            <a:pPr indent="-317500" lvl="1" marL="914400" rtl="0" algn="l">
              <a:lnSpc>
                <a:spcPct val="115000"/>
              </a:lnSpc>
              <a:spcBef>
                <a:spcPts val="0"/>
              </a:spcBef>
              <a:spcAft>
                <a:spcPts val="0"/>
              </a:spcAft>
              <a:buSzPts val="1400"/>
              <a:buChar char="-"/>
            </a:pPr>
            <a:r>
              <a:rPr lang="nl"/>
              <a:t>No hardware-specific IDE support</a:t>
            </a:r>
            <a:endParaRPr/>
          </a:p>
          <a:p>
            <a:pPr indent="0" lvl="0" marL="0" rtl="0" algn="l">
              <a:lnSpc>
                <a:spcPct val="115000"/>
              </a:lnSpc>
              <a:spcBef>
                <a:spcPts val="1200"/>
              </a:spcBef>
              <a:spcAft>
                <a:spcPts val="1200"/>
              </a:spcAft>
              <a:buNone/>
            </a:pPr>
            <a:r>
              <a:t/>
            </a:r>
            <a:endParaRPr b="1"/>
          </a:p>
        </p:txBody>
      </p:sp>
      <p:pic>
        <p:nvPicPr>
          <p:cNvPr id="122" name="Google Shape;122;p23"/>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28" name="Google Shape;128;p2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129" name="Google Shape;129;p24"/>
          <p:cNvPicPr preferRelativeResize="0"/>
          <p:nvPr/>
        </p:nvPicPr>
        <p:blipFill>
          <a:blip r:embed="rId3">
            <a:alphaModFix/>
          </a:blip>
          <a:stretch>
            <a:fillRect/>
          </a:stretch>
        </p:blipFill>
        <p:spPr>
          <a:xfrm>
            <a:off x="1259715" y="0"/>
            <a:ext cx="6624570"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35" name="Google Shape;135;p2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136" name="Google Shape;136;p25"/>
          <p:cNvPicPr preferRelativeResize="0"/>
          <p:nvPr/>
        </p:nvPicPr>
        <p:blipFill>
          <a:blip r:embed="rId3">
            <a:alphaModFix/>
          </a:blip>
          <a:stretch>
            <a:fillRect/>
          </a:stretch>
        </p:blipFill>
        <p:spPr>
          <a:xfrm>
            <a:off x="395288" y="185738"/>
            <a:ext cx="8353425" cy="4772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142" name="Google Shape;142;p26"/>
          <p:cNvSpPr txBox="1"/>
          <p:nvPr>
            <p:ph idx="1" type="body"/>
          </p:nvPr>
        </p:nvSpPr>
        <p:spPr>
          <a:xfrm>
            <a:off x="628650" y="1369225"/>
            <a:ext cx="8255700" cy="35616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317500" lvl="0" marL="457200" rtl="0" algn="l">
              <a:lnSpc>
                <a:spcPct val="115000"/>
              </a:lnSpc>
              <a:spcBef>
                <a:spcPts val="0"/>
              </a:spcBef>
              <a:spcAft>
                <a:spcPts val="0"/>
              </a:spcAft>
              <a:buSzPts val="1400"/>
              <a:buChar char="-"/>
            </a:pPr>
            <a:r>
              <a:rPr b="1" lang="nl"/>
              <a:t>Embedded Generation Languages (Chisel in Scala, SystemC in C++)?</a:t>
            </a:r>
            <a:endParaRPr b="1"/>
          </a:p>
          <a:p>
            <a:pPr indent="-317500" lvl="1" marL="914400" rtl="0" algn="l">
              <a:lnSpc>
                <a:spcPct val="115000"/>
              </a:lnSpc>
              <a:spcBef>
                <a:spcPts val="0"/>
              </a:spcBef>
              <a:spcAft>
                <a:spcPts val="0"/>
              </a:spcAft>
              <a:buSzPts val="1400"/>
              <a:buChar char="-"/>
            </a:pPr>
            <a:r>
              <a:rPr lang="nl"/>
              <a:t>Suffer under parent language Syntax</a:t>
            </a:r>
            <a:endParaRPr/>
          </a:p>
          <a:p>
            <a:pPr indent="-317500" lvl="1" marL="914400" rtl="0" algn="l">
              <a:lnSpc>
                <a:spcPct val="115000"/>
              </a:lnSpc>
              <a:spcBef>
                <a:spcPts val="0"/>
              </a:spcBef>
              <a:spcAft>
                <a:spcPts val="0"/>
              </a:spcAft>
              <a:buSzPts val="1400"/>
              <a:buChar char="-"/>
            </a:pPr>
            <a:r>
              <a:rPr lang="nl"/>
              <a:t>Little defence against incorrect hardware</a:t>
            </a:r>
            <a:endParaRPr/>
          </a:p>
          <a:p>
            <a:pPr indent="-317500" lvl="1" marL="914400" rtl="0" algn="l">
              <a:lnSpc>
                <a:spcPct val="115000"/>
              </a:lnSpc>
              <a:spcBef>
                <a:spcPts val="0"/>
              </a:spcBef>
              <a:spcAft>
                <a:spcPts val="0"/>
              </a:spcAft>
              <a:buSzPts val="1400"/>
              <a:buChar char="-"/>
            </a:pPr>
            <a:r>
              <a:rPr lang="nl"/>
              <a:t>No hardware-specific IDE support</a:t>
            </a:r>
            <a:endParaRPr/>
          </a:p>
          <a:p>
            <a:pPr indent="0" lvl="0" marL="0" rtl="0" algn="l">
              <a:lnSpc>
                <a:spcPct val="115000"/>
              </a:lnSpc>
              <a:spcBef>
                <a:spcPts val="1200"/>
              </a:spcBef>
              <a:spcAft>
                <a:spcPts val="1200"/>
              </a:spcAft>
              <a:buNone/>
            </a:pPr>
            <a:r>
              <a:t/>
            </a:r>
            <a:endParaRPr b="1"/>
          </a:p>
        </p:txBody>
      </p:sp>
      <p:pic>
        <p:nvPicPr>
          <p:cNvPr id="143" name="Google Shape;143;p26"/>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149" name="Google Shape;149;p27"/>
          <p:cNvSpPr txBox="1"/>
          <p:nvPr>
            <p:ph idx="1" type="body"/>
          </p:nvPr>
        </p:nvSpPr>
        <p:spPr>
          <a:xfrm>
            <a:off x="628650" y="1369225"/>
            <a:ext cx="8255700" cy="35616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317500" lvl="0" marL="457200" rtl="0" algn="l">
              <a:lnSpc>
                <a:spcPct val="115000"/>
              </a:lnSpc>
              <a:spcBef>
                <a:spcPts val="0"/>
              </a:spcBef>
              <a:spcAft>
                <a:spcPts val="0"/>
              </a:spcAft>
              <a:buSzPts val="1400"/>
              <a:buChar char="-"/>
            </a:pPr>
            <a:r>
              <a:rPr b="1" lang="nl"/>
              <a:t>Embedded Generation Languages (Chisel in Scala, SystemC in C++)?</a:t>
            </a:r>
            <a:endParaRPr b="1"/>
          </a:p>
          <a:p>
            <a:pPr indent="-317500" lvl="1" marL="914400" rtl="0" algn="l">
              <a:lnSpc>
                <a:spcPct val="115000"/>
              </a:lnSpc>
              <a:spcBef>
                <a:spcPts val="0"/>
              </a:spcBef>
              <a:spcAft>
                <a:spcPts val="0"/>
              </a:spcAft>
              <a:buSzPts val="1400"/>
              <a:buChar char="-"/>
            </a:pPr>
            <a:r>
              <a:rPr lang="nl"/>
              <a:t>Suffer under parent language Syntax</a:t>
            </a:r>
            <a:endParaRPr/>
          </a:p>
          <a:p>
            <a:pPr indent="-317500" lvl="1" marL="914400" rtl="0" algn="l">
              <a:lnSpc>
                <a:spcPct val="115000"/>
              </a:lnSpc>
              <a:spcBef>
                <a:spcPts val="0"/>
              </a:spcBef>
              <a:spcAft>
                <a:spcPts val="0"/>
              </a:spcAft>
              <a:buSzPts val="1400"/>
              <a:buChar char="-"/>
            </a:pPr>
            <a:r>
              <a:rPr lang="nl"/>
              <a:t>Little defence against incorrect hardware</a:t>
            </a:r>
            <a:endParaRPr/>
          </a:p>
          <a:p>
            <a:pPr indent="-317500" lvl="1" marL="914400" rtl="0" algn="l">
              <a:lnSpc>
                <a:spcPct val="115000"/>
              </a:lnSpc>
              <a:spcBef>
                <a:spcPts val="0"/>
              </a:spcBef>
              <a:spcAft>
                <a:spcPts val="0"/>
              </a:spcAft>
              <a:buSzPts val="1400"/>
              <a:buChar char="-"/>
            </a:pPr>
            <a:r>
              <a:rPr lang="nl"/>
              <a:t>No hardware-specific IDE support</a:t>
            </a:r>
            <a:endParaRPr/>
          </a:p>
          <a:p>
            <a:pPr indent="-317500" lvl="0" marL="457200" rtl="0" algn="l">
              <a:lnSpc>
                <a:spcPct val="115000"/>
              </a:lnSpc>
              <a:spcBef>
                <a:spcPts val="0"/>
              </a:spcBef>
              <a:spcAft>
                <a:spcPts val="0"/>
              </a:spcAft>
              <a:buSzPts val="1400"/>
              <a:buChar char="-"/>
            </a:pPr>
            <a:r>
              <a:rPr b="1" lang="nl"/>
              <a:t>HLS?</a:t>
            </a:r>
            <a:endParaRPr/>
          </a:p>
          <a:p>
            <a:pPr indent="0" lvl="0" marL="0" rtl="0" algn="l">
              <a:lnSpc>
                <a:spcPct val="115000"/>
              </a:lnSpc>
              <a:spcBef>
                <a:spcPts val="1200"/>
              </a:spcBef>
              <a:spcAft>
                <a:spcPts val="1200"/>
              </a:spcAft>
              <a:buNone/>
            </a:pPr>
            <a:r>
              <a:t/>
            </a:r>
            <a:endParaRPr b="1"/>
          </a:p>
        </p:txBody>
      </p:sp>
      <p:pic>
        <p:nvPicPr>
          <p:cNvPr id="150" name="Google Shape;150;p27"/>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28"/>
          <p:cNvPicPr preferRelativeResize="0"/>
          <p:nvPr/>
        </p:nvPicPr>
        <p:blipFill rotWithShape="1">
          <a:blip r:embed="rId3">
            <a:alphaModFix/>
          </a:blip>
          <a:srcRect b="0" l="25959" r="25644" t="0"/>
          <a:stretch/>
        </p:blipFill>
        <p:spPr>
          <a:xfrm>
            <a:off x="449050" y="177175"/>
            <a:ext cx="1615342" cy="2197675"/>
          </a:xfrm>
          <a:prstGeom prst="rect">
            <a:avLst/>
          </a:prstGeom>
          <a:noFill/>
          <a:ln>
            <a:noFill/>
          </a:ln>
        </p:spPr>
      </p:pic>
      <p:pic>
        <p:nvPicPr>
          <p:cNvPr id="156" name="Google Shape;156;p28"/>
          <p:cNvPicPr preferRelativeResize="0"/>
          <p:nvPr/>
        </p:nvPicPr>
        <p:blipFill rotWithShape="1">
          <a:blip r:embed="rId4">
            <a:alphaModFix/>
          </a:blip>
          <a:srcRect b="19618" l="21485" r="8116" t="9171"/>
          <a:stretch/>
        </p:blipFill>
        <p:spPr>
          <a:xfrm>
            <a:off x="2829176" y="177174"/>
            <a:ext cx="2734525" cy="2006150"/>
          </a:xfrm>
          <a:prstGeom prst="rect">
            <a:avLst/>
          </a:prstGeom>
          <a:noFill/>
          <a:ln>
            <a:noFill/>
          </a:ln>
        </p:spPr>
      </p:pic>
      <p:pic>
        <p:nvPicPr>
          <p:cNvPr id="157" name="Google Shape;157;p28"/>
          <p:cNvPicPr preferRelativeResize="0"/>
          <p:nvPr/>
        </p:nvPicPr>
        <p:blipFill>
          <a:blip r:embed="rId5">
            <a:alphaModFix/>
          </a:blip>
          <a:stretch>
            <a:fillRect/>
          </a:stretch>
        </p:blipFill>
        <p:spPr>
          <a:xfrm>
            <a:off x="6270975" y="177175"/>
            <a:ext cx="2207500" cy="2083275"/>
          </a:xfrm>
          <a:prstGeom prst="rect">
            <a:avLst/>
          </a:prstGeom>
          <a:noFill/>
          <a:ln>
            <a:noFill/>
          </a:ln>
        </p:spPr>
      </p:pic>
      <p:sp>
        <p:nvSpPr>
          <p:cNvPr id="158" name="Google Shape;158;p28"/>
          <p:cNvSpPr/>
          <p:nvPr/>
        </p:nvSpPr>
        <p:spPr>
          <a:xfrm>
            <a:off x="246625" y="3142753"/>
            <a:ext cx="8541300" cy="560400"/>
          </a:xfrm>
          <a:prstGeom prst="rightArrow">
            <a:avLst>
              <a:gd fmla="val 50000" name="adj1"/>
              <a:gd fmla="val 111510" name="adj2"/>
            </a:avLst>
          </a:prstGeom>
          <a:solidFill>
            <a:srgbClr val="F6B26B"/>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Data </a:t>
            </a:r>
            <a:r>
              <a:rPr lang="nl"/>
              <a:t>m</a:t>
            </a:r>
            <a:r>
              <a:rPr lang="nl"/>
              <a:t>ovement</a:t>
            </a:r>
            <a:endParaRPr/>
          </a:p>
        </p:txBody>
      </p:sp>
      <p:sp>
        <p:nvSpPr>
          <p:cNvPr id="159" name="Google Shape;159;p28"/>
          <p:cNvSpPr/>
          <p:nvPr/>
        </p:nvSpPr>
        <p:spPr>
          <a:xfrm>
            <a:off x="246775" y="2482616"/>
            <a:ext cx="8541300" cy="560400"/>
          </a:xfrm>
          <a:prstGeom prst="leftArrow">
            <a:avLst>
              <a:gd fmla="val 50000" name="adj1"/>
              <a:gd fmla="val 114061" name="adj2"/>
            </a:avLst>
          </a:prstGeom>
          <a:solidFill>
            <a:srgbClr val="93C47D"/>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Computation</a:t>
            </a:r>
            <a:endParaRPr/>
          </a:p>
        </p:txBody>
      </p:sp>
      <p:sp>
        <p:nvSpPr>
          <p:cNvPr id="160" name="Google Shape;160;p28"/>
          <p:cNvSpPr/>
          <p:nvPr/>
        </p:nvSpPr>
        <p:spPr>
          <a:xfrm>
            <a:off x="246775" y="3802878"/>
            <a:ext cx="8541300" cy="560400"/>
          </a:xfrm>
          <a:prstGeom prst="rightArrow">
            <a:avLst>
              <a:gd fmla="val 50000" name="adj1"/>
              <a:gd fmla="val 111510" name="adj2"/>
            </a:avLst>
          </a:prstGeom>
          <a:solidFill>
            <a:srgbClr val="6FA8DC"/>
          </a:solidFill>
          <a:ln cap="flat" cmpd="sng" w="19050">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Timing Details</a:t>
            </a:r>
            <a:endParaRPr/>
          </a:p>
        </p:txBody>
      </p:sp>
      <p:sp>
        <p:nvSpPr>
          <p:cNvPr id="161" name="Google Shape;161;p28"/>
          <p:cNvSpPr txBox="1"/>
          <p:nvPr/>
        </p:nvSpPr>
        <p:spPr>
          <a:xfrm>
            <a:off x="2354875" y="4463000"/>
            <a:ext cx="4325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1800">
                <a:solidFill>
                  <a:schemeClr val="dk2"/>
                </a:solidFill>
              </a:rPr>
              <a:t>HLS: We can do it all!</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67" name="Google Shape;167;p2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168" name="Google Shape;168;p29"/>
          <p:cNvPicPr preferRelativeResize="0"/>
          <p:nvPr/>
        </p:nvPicPr>
        <p:blipFill>
          <a:blip r:embed="rId3">
            <a:alphaModFix/>
          </a:blip>
          <a:stretch>
            <a:fillRect/>
          </a:stretch>
        </p:blipFill>
        <p:spPr>
          <a:xfrm>
            <a:off x="2645213" y="873013"/>
            <a:ext cx="3853574" cy="3853574"/>
          </a:xfrm>
          <a:prstGeom prst="rect">
            <a:avLst/>
          </a:prstGeom>
          <a:noFill/>
          <a:ln>
            <a:noFill/>
          </a:ln>
        </p:spPr>
      </p:pic>
      <p:grpSp>
        <p:nvGrpSpPr>
          <p:cNvPr id="169" name="Google Shape;169;p29"/>
          <p:cNvGrpSpPr/>
          <p:nvPr/>
        </p:nvGrpSpPr>
        <p:grpSpPr>
          <a:xfrm>
            <a:off x="3866350" y="2795575"/>
            <a:ext cx="1420450" cy="1500600"/>
            <a:chOff x="3866350" y="2795575"/>
            <a:chExt cx="1420450" cy="1500600"/>
          </a:xfrm>
        </p:grpSpPr>
        <p:cxnSp>
          <p:nvCxnSpPr>
            <p:cNvPr id="170" name="Google Shape;170;p29"/>
            <p:cNvCxnSpPr/>
            <p:nvPr/>
          </p:nvCxnSpPr>
          <p:spPr>
            <a:xfrm rot="10800000">
              <a:off x="3866350" y="2829300"/>
              <a:ext cx="219000" cy="750300"/>
            </a:xfrm>
            <a:prstGeom prst="straightConnector1">
              <a:avLst/>
            </a:prstGeom>
            <a:noFill/>
            <a:ln cap="flat" cmpd="sng" w="38100">
              <a:solidFill>
                <a:schemeClr val="dk2"/>
              </a:solidFill>
              <a:prstDash val="solid"/>
              <a:round/>
              <a:headEnd len="med" w="med" type="none"/>
              <a:tailEnd len="med" w="med" type="none"/>
            </a:ln>
          </p:spPr>
        </p:cxnSp>
        <p:cxnSp>
          <p:nvCxnSpPr>
            <p:cNvPr id="171" name="Google Shape;171;p29"/>
            <p:cNvCxnSpPr/>
            <p:nvPr/>
          </p:nvCxnSpPr>
          <p:spPr>
            <a:xfrm flipH="1" rot="10800000">
              <a:off x="5067800" y="2795575"/>
              <a:ext cx="219000" cy="750300"/>
            </a:xfrm>
            <a:prstGeom prst="straightConnector1">
              <a:avLst/>
            </a:prstGeom>
            <a:noFill/>
            <a:ln cap="flat" cmpd="sng" w="38100">
              <a:solidFill>
                <a:schemeClr val="dk2"/>
              </a:solidFill>
              <a:prstDash val="solid"/>
              <a:round/>
              <a:headEnd len="med" w="med" type="none"/>
              <a:tailEnd len="med" w="med" type="none"/>
            </a:ln>
          </p:spPr>
        </p:cxnSp>
        <p:sp>
          <p:nvSpPr>
            <p:cNvPr id="172" name="Google Shape;172;p29"/>
            <p:cNvSpPr/>
            <p:nvPr/>
          </p:nvSpPr>
          <p:spPr>
            <a:xfrm>
              <a:off x="3925200" y="3545875"/>
              <a:ext cx="1306500" cy="750300"/>
            </a:xfrm>
            <a:prstGeom prst="roundRect">
              <a:avLst>
                <a:gd fmla="val 16667" name="adj"/>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nl" sz="3400"/>
                <a:t>C++</a:t>
              </a:r>
              <a:endParaRPr b="1" sz="34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30"/>
          <p:cNvPicPr preferRelativeResize="0"/>
          <p:nvPr/>
        </p:nvPicPr>
        <p:blipFill>
          <a:blip r:embed="rId3">
            <a:alphaModFix/>
          </a:blip>
          <a:stretch>
            <a:fillRect/>
          </a:stretch>
        </p:blipFill>
        <p:spPr>
          <a:xfrm>
            <a:off x="2645213" y="873013"/>
            <a:ext cx="3853574" cy="3853574"/>
          </a:xfrm>
          <a:prstGeom prst="rect">
            <a:avLst/>
          </a:prstGeom>
          <a:noFill/>
          <a:ln>
            <a:noFill/>
          </a:ln>
        </p:spPr>
      </p:pic>
      <p:pic>
        <p:nvPicPr>
          <p:cNvPr id="178" name="Google Shape;178;p30"/>
          <p:cNvPicPr preferRelativeResize="0"/>
          <p:nvPr/>
        </p:nvPicPr>
        <p:blipFill rotWithShape="1">
          <a:blip r:embed="rId4">
            <a:alphaModFix/>
          </a:blip>
          <a:srcRect b="16957" l="0" r="0" t="0"/>
          <a:stretch/>
        </p:blipFill>
        <p:spPr>
          <a:xfrm rot="937156">
            <a:off x="4427243" y="1107400"/>
            <a:ext cx="742739" cy="616750"/>
          </a:xfrm>
          <a:prstGeom prst="rect">
            <a:avLst/>
          </a:prstGeom>
          <a:noFill/>
          <a:ln>
            <a:noFill/>
          </a:ln>
        </p:spPr>
      </p:pic>
      <p:grpSp>
        <p:nvGrpSpPr>
          <p:cNvPr id="179" name="Google Shape;179;p30"/>
          <p:cNvGrpSpPr/>
          <p:nvPr/>
        </p:nvGrpSpPr>
        <p:grpSpPr>
          <a:xfrm>
            <a:off x="3997385" y="1892485"/>
            <a:ext cx="1169326" cy="540856"/>
            <a:chOff x="3997385" y="1892485"/>
            <a:chExt cx="1169326" cy="540856"/>
          </a:xfrm>
        </p:grpSpPr>
        <p:sp>
          <p:nvSpPr>
            <p:cNvPr id="180" name="Google Shape;180;p30"/>
            <p:cNvSpPr/>
            <p:nvPr/>
          </p:nvSpPr>
          <p:spPr>
            <a:xfrm>
              <a:off x="3997385" y="1957612"/>
              <a:ext cx="390300" cy="387900"/>
            </a:xfrm>
            <a:prstGeom prst="ellipse">
              <a:avLst/>
            </a:prstGeom>
            <a:solidFill>
              <a:srgbClr val="F3F3F3"/>
            </a:solidFill>
            <a:ln cap="flat" cmpd="sng" w="38100">
              <a:solidFill>
                <a:srgbClr val="09090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81" name="Google Shape;181;p30"/>
            <p:cNvGrpSpPr/>
            <p:nvPr/>
          </p:nvGrpSpPr>
          <p:grpSpPr>
            <a:xfrm rot="7452010">
              <a:off x="4701447" y="1968958"/>
              <a:ext cx="390310" cy="387910"/>
              <a:chOff x="4657400" y="1968825"/>
              <a:chExt cx="390300" cy="387900"/>
            </a:xfrm>
          </p:grpSpPr>
          <p:sp>
            <p:nvSpPr>
              <p:cNvPr id="182" name="Google Shape;182;p30"/>
              <p:cNvSpPr/>
              <p:nvPr/>
            </p:nvSpPr>
            <p:spPr>
              <a:xfrm>
                <a:off x="4657400" y="1968825"/>
                <a:ext cx="390300" cy="387900"/>
              </a:xfrm>
              <a:prstGeom prst="ellipse">
                <a:avLst/>
              </a:prstGeom>
              <a:solidFill>
                <a:srgbClr val="F3F3F3"/>
              </a:solidFill>
              <a:ln cap="flat" cmpd="sng" w="38100">
                <a:solidFill>
                  <a:srgbClr val="09090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30"/>
              <p:cNvSpPr/>
              <p:nvPr/>
            </p:nvSpPr>
            <p:spPr>
              <a:xfrm>
                <a:off x="4698200" y="2086575"/>
                <a:ext cx="153300" cy="152400"/>
              </a:xfrm>
              <a:prstGeom prst="ellipse">
                <a:avLst/>
              </a:prstGeom>
              <a:solidFill>
                <a:schemeClr val="dk1"/>
              </a:solidFill>
              <a:ln cap="flat" cmpd="sng" w="38100">
                <a:solidFill>
                  <a:srgbClr val="09090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84" name="Google Shape;184;p30"/>
            <p:cNvSpPr/>
            <p:nvPr/>
          </p:nvSpPr>
          <p:spPr>
            <a:xfrm>
              <a:off x="4066685" y="2121499"/>
              <a:ext cx="153300" cy="1524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85" name="Google Shape;185;p30"/>
          <p:cNvGrpSpPr/>
          <p:nvPr/>
        </p:nvGrpSpPr>
        <p:grpSpPr>
          <a:xfrm>
            <a:off x="3866350" y="2795575"/>
            <a:ext cx="1420450" cy="1500600"/>
            <a:chOff x="3866350" y="2795575"/>
            <a:chExt cx="1420450" cy="1500600"/>
          </a:xfrm>
        </p:grpSpPr>
        <p:cxnSp>
          <p:nvCxnSpPr>
            <p:cNvPr id="186" name="Google Shape;186;p30"/>
            <p:cNvCxnSpPr/>
            <p:nvPr/>
          </p:nvCxnSpPr>
          <p:spPr>
            <a:xfrm rot="10800000">
              <a:off x="3866350" y="2829300"/>
              <a:ext cx="219000" cy="750300"/>
            </a:xfrm>
            <a:prstGeom prst="straightConnector1">
              <a:avLst/>
            </a:prstGeom>
            <a:noFill/>
            <a:ln cap="flat" cmpd="sng" w="38100">
              <a:solidFill>
                <a:schemeClr val="dk2"/>
              </a:solidFill>
              <a:prstDash val="solid"/>
              <a:round/>
              <a:headEnd len="med" w="med" type="none"/>
              <a:tailEnd len="med" w="med" type="none"/>
            </a:ln>
          </p:spPr>
        </p:cxnSp>
        <p:cxnSp>
          <p:nvCxnSpPr>
            <p:cNvPr id="187" name="Google Shape;187;p30"/>
            <p:cNvCxnSpPr/>
            <p:nvPr/>
          </p:nvCxnSpPr>
          <p:spPr>
            <a:xfrm flipH="1" rot="10800000">
              <a:off x="5067800" y="2795575"/>
              <a:ext cx="219000" cy="750300"/>
            </a:xfrm>
            <a:prstGeom prst="straightConnector1">
              <a:avLst/>
            </a:prstGeom>
            <a:noFill/>
            <a:ln cap="flat" cmpd="sng" w="38100">
              <a:solidFill>
                <a:schemeClr val="dk2"/>
              </a:solidFill>
              <a:prstDash val="solid"/>
              <a:round/>
              <a:headEnd len="med" w="med" type="none"/>
              <a:tailEnd len="med" w="med" type="none"/>
            </a:ln>
          </p:spPr>
        </p:cxnSp>
        <p:sp>
          <p:nvSpPr>
            <p:cNvPr id="188" name="Google Shape;188;p30"/>
            <p:cNvSpPr/>
            <p:nvPr/>
          </p:nvSpPr>
          <p:spPr>
            <a:xfrm>
              <a:off x="3925200" y="3545875"/>
              <a:ext cx="1306500" cy="750300"/>
            </a:xfrm>
            <a:prstGeom prst="roundRect">
              <a:avLst>
                <a:gd fmla="val 16667" name="adj"/>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nl" sz="3400"/>
                <a:t>C++</a:t>
              </a:r>
              <a:endParaRPr b="1" sz="3400"/>
            </a:p>
          </p:txBody>
        </p:sp>
      </p:grpSp>
      <p:pic>
        <p:nvPicPr>
          <p:cNvPr id="189" name="Google Shape;189;p30"/>
          <p:cNvPicPr preferRelativeResize="0"/>
          <p:nvPr/>
        </p:nvPicPr>
        <p:blipFill>
          <a:blip r:embed="rId5">
            <a:alphaModFix/>
          </a:blip>
          <a:stretch>
            <a:fillRect/>
          </a:stretch>
        </p:blipFill>
        <p:spPr>
          <a:xfrm rot="2150646">
            <a:off x="5559970" y="-92755"/>
            <a:ext cx="1618711" cy="1618711"/>
          </a:xfrm>
          <a:prstGeom prst="rect">
            <a:avLst/>
          </a:prstGeom>
          <a:noFill/>
          <a:ln>
            <a:noFill/>
          </a:ln>
        </p:spPr>
      </p:pic>
      <p:grpSp>
        <p:nvGrpSpPr>
          <p:cNvPr id="190" name="Google Shape;190;p30"/>
          <p:cNvGrpSpPr/>
          <p:nvPr/>
        </p:nvGrpSpPr>
        <p:grpSpPr>
          <a:xfrm>
            <a:off x="6358383" y="1093905"/>
            <a:ext cx="2375891" cy="1251603"/>
            <a:chOff x="6358383" y="1093905"/>
            <a:chExt cx="2375891" cy="1251603"/>
          </a:xfrm>
        </p:grpSpPr>
        <p:sp>
          <p:nvSpPr>
            <p:cNvPr id="191" name="Google Shape;191;p30"/>
            <p:cNvSpPr txBox="1"/>
            <p:nvPr/>
          </p:nvSpPr>
          <p:spPr>
            <a:xfrm rot="-474320">
              <a:off x="7421660" y="1797607"/>
              <a:ext cx="1286930" cy="461602"/>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1800">
                  <a:solidFill>
                    <a:schemeClr val="dk2"/>
                  </a:solidFill>
                </a:rPr>
                <a:t>Recursion</a:t>
              </a:r>
              <a:endParaRPr sz="1800">
                <a:solidFill>
                  <a:schemeClr val="dk2"/>
                </a:solidFill>
              </a:endParaRPr>
            </a:p>
          </p:txBody>
        </p:sp>
        <p:grpSp>
          <p:nvGrpSpPr>
            <p:cNvPr id="192" name="Google Shape;192;p30"/>
            <p:cNvGrpSpPr/>
            <p:nvPr/>
          </p:nvGrpSpPr>
          <p:grpSpPr>
            <a:xfrm>
              <a:off x="6358383" y="1093905"/>
              <a:ext cx="1255129" cy="1027669"/>
              <a:chOff x="5994015" y="901923"/>
              <a:chExt cx="1587565" cy="1319216"/>
            </a:xfrm>
          </p:grpSpPr>
          <p:sp>
            <p:nvSpPr>
              <p:cNvPr id="193" name="Google Shape;193;p30"/>
              <p:cNvSpPr/>
              <p:nvPr/>
            </p:nvSpPr>
            <p:spPr>
              <a:xfrm rot="2013881">
                <a:off x="5963697" y="1347212"/>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sp>
            <p:nvSpPr>
              <p:cNvPr id="194" name="Google Shape;194;p30"/>
              <p:cNvSpPr/>
              <p:nvPr/>
            </p:nvSpPr>
            <p:spPr>
              <a:xfrm rot="2013881">
                <a:off x="5923975" y="1520201"/>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grpSp>
      </p:grpSp>
      <p:grpSp>
        <p:nvGrpSpPr>
          <p:cNvPr id="195" name="Google Shape;195;p30"/>
          <p:cNvGrpSpPr/>
          <p:nvPr/>
        </p:nvGrpSpPr>
        <p:grpSpPr>
          <a:xfrm>
            <a:off x="6608006" y="1850700"/>
            <a:ext cx="2062479" cy="1631884"/>
            <a:chOff x="6608006" y="1850700"/>
            <a:chExt cx="2062479" cy="1631884"/>
          </a:xfrm>
        </p:grpSpPr>
        <p:sp>
          <p:nvSpPr>
            <p:cNvPr id="196" name="Google Shape;196;p30"/>
            <p:cNvSpPr txBox="1"/>
            <p:nvPr/>
          </p:nvSpPr>
          <p:spPr>
            <a:xfrm rot="-625315">
              <a:off x="7352319" y="2908161"/>
              <a:ext cx="1286931" cy="46184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1800">
                  <a:solidFill>
                    <a:schemeClr val="dk2"/>
                  </a:solidFill>
                </a:rPr>
                <a:t>IO</a:t>
              </a:r>
              <a:endParaRPr sz="1800">
                <a:solidFill>
                  <a:schemeClr val="dk2"/>
                </a:solidFill>
              </a:endParaRPr>
            </a:p>
          </p:txBody>
        </p:sp>
        <p:grpSp>
          <p:nvGrpSpPr>
            <p:cNvPr id="197" name="Google Shape;197;p30"/>
            <p:cNvGrpSpPr/>
            <p:nvPr/>
          </p:nvGrpSpPr>
          <p:grpSpPr>
            <a:xfrm rot="1117098">
              <a:off x="6739209" y="2024160"/>
              <a:ext cx="1255086" cy="1027627"/>
              <a:chOff x="5994015" y="901923"/>
              <a:chExt cx="1587565" cy="1319216"/>
            </a:xfrm>
          </p:grpSpPr>
          <p:sp>
            <p:nvSpPr>
              <p:cNvPr id="198" name="Google Shape;198;p30"/>
              <p:cNvSpPr/>
              <p:nvPr/>
            </p:nvSpPr>
            <p:spPr>
              <a:xfrm rot="2013881">
                <a:off x="5963697" y="1347212"/>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sp>
            <p:nvSpPr>
              <p:cNvPr id="199" name="Google Shape;199;p30"/>
              <p:cNvSpPr/>
              <p:nvPr/>
            </p:nvSpPr>
            <p:spPr>
              <a:xfrm rot="2013881">
                <a:off x="5923975" y="1520201"/>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grpSp>
      </p:grpSp>
      <p:grpSp>
        <p:nvGrpSpPr>
          <p:cNvPr id="200" name="Google Shape;200;p30"/>
          <p:cNvGrpSpPr/>
          <p:nvPr/>
        </p:nvGrpSpPr>
        <p:grpSpPr>
          <a:xfrm>
            <a:off x="1252026" y="1558225"/>
            <a:ext cx="2092423" cy="1959434"/>
            <a:chOff x="1252026" y="1558225"/>
            <a:chExt cx="2092423" cy="1959434"/>
          </a:xfrm>
        </p:grpSpPr>
        <p:sp>
          <p:nvSpPr>
            <p:cNvPr id="201" name="Google Shape;201;p30"/>
            <p:cNvSpPr txBox="1"/>
            <p:nvPr/>
          </p:nvSpPr>
          <p:spPr>
            <a:xfrm rot="584603">
              <a:off x="1305144" y="2675351"/>
              <a:ext cx="1286964" cy="73871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1800">
                  <a:solidFill>
                    <a:schemeClr val="dk2"/>
                  </a:solidFill>
                </a:rPr>
                <a:t>memory allocation</a:t>
              </a:r>
              <a:endParaRPr sz="1800">
                <a:solidFill>
                  <a:schemeClr val="dk2"/>
                </a:solidFill>
              </a:endParaRPr>
            </a:p>
          </p:txBody>
        </p:sp>
        <p:grpSp>
          <p:nvGrpSpPr>
            <p:cNvPr id="202" name="Google Shape;202;p30"/>
            <p:cNvGrpSpPr/>
            <p:nvPr/>
          </p:nvGrpSpPr>
          <p:grpSpPr>
            <a:xfrm flipH="1" rot="-1117098">
              <a:off x="1958159" y="1731685"/>
              <a:ext cx="1255086" cy="1027627"/>
              <a:chOff x="5994015" y="901923"/>
              <a:chExt cx="1587565" cy="1319216"/>
            </a:xfrm>
          </p:grpSpPr>
          <p:sp>
            <p:nvSpPr>
              <p:cNvPr id="203" name="Google Shape;203;p30"/>
              <p:cNvSpPr/>
              <p:nvPr/>
            </p:nvSpPr>
            <p:spPr>
              <a:xfrm rot="2013881">
                <a:off x="5963697" y="1347212"/>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sp>
            <p:nvSpPr>
              <p:cNvPr id="204" name="Google Shape;204;p30"/>
              <p:cNvSpPr/>
              <p:nvPr/>
            </p:nvSpPr>
            <p:spPr>
              <a:xfrm rot="2013881">
                <a:off x="5923975" y="1520201"/>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grpSp>
      </p:grpSp>
      <p:grpSp>
        <p:nvGrpSpPr>
          <p:cNvPr id="205" name="Google Shape;205;p30"/>
          <p:cNvGrpSpPr/>
          <p:nvPr/>
        </p:nvGrpSpPr>
        <p:grpSpPr>
          <a:xfrm>
            <a:off x="752250" y="945163"/>
            <a:ext cx="2176973" cy="1309477"/>
            <a:chOff x="752250" y="945163"/>
            <a:chExt cx="2176973" cy="1309477"/>
          </a:xfrm>
        </p:grpSpPr>
        <p:sp>
          <p:nvSpPr>
            <p:cNvPr id="206" name="Google Shape;206;p30"/>
            <p:cNvSpPr txBox="1"/>
            <p:nvPr/>
          </p:nvSpPr>
          <p:spPr>
            <a:xfrm rot="598436">
              <a:off x="782575" y="1684890"/>
              <a:ext cx="1286950" cy="461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1800">
                  <a:solidFill>
                    <a:schemeClr val="dk2"/>
                  </a:solidFill>
                </a:rPr>
                <a:t>RAII</a:t>
              </a:r>
              <a:endParaRPr sz="1800">
                <a:solidFill>
                  <a:schemeClr val="dk2"/>
                </a:solidFill>
              </a:endParaRPr>
            </a:p>
          </p:txBody>
        </p:sp>
        <p:grpSp>
          <p:nvGrpSpPr>
            <p:cNvPr id="207" name="Google Shape;207;p30"/>
            <p:cNvGrpSpPr/>
            <p:nvPr/>
          </p:nvGrpSpPr>
          <p:grpSpPr>
            <a:xfrm flipH="1" rot="-182710">
              <a:off x="1647647" y="977776"/>
              <a:ext cx="1255155" cy="1027670"/>
              <a:chOff x="5994015" y="901923"/>
              <a:chExt cx="1587565" cy="1319216"/>
            </a:xfrm>
          </p:grpSpPr>
          <p:sp>
            <p:nvSpPr>
              <p:cNvPr id="208" name="Google Shape;208;p30"/>
              <p:cNvSpPr/>
              <p:nvPr/>
            </p:nvSpPr>
            <p:spPr>
              <a:xfrm rot="2013881">
                <a:off x="5963697" y="1347212"/>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sp>
            <p:nvSpPr>
              <p:cNvPr id="209" name="Google Shape;209;p30"/>
              <p:cNvSpPr/>
              <p:nvPr/>
            </p:nvSpPr>
            <p:spPr>
              <a:xfrm rot="2013881">
                <a:off x="5923975" y="1520201"/>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grpSp>
      </p:grpSp>
      <p:grpSp>
        <p:nvGrpSpPr>
          <p:cNvPr id="210" name="Google Shape;210;p30"/>
          <p:cNvGrpSpPr/>
          <p:nvPr/>
        </p:nvGrpSpPr>
        <p:grpSpPr>
          <a:xfrm>
            <a:off x="1012583" y="-46689"/>
            <a:ext cx="2418562" cy="1328840"/>
            <a:chOff x="1012583" y="-46689"/>
            <a:chExt cx="2418562" cy="1328840"/>
          </a:xfrm>
        </p:grpSpPr>
        <p:sp>
          <p:nvSpPr>
            <p:cNvPr id="211" name="Google Shape;211;p30"/>
            <p:cNvSpPr txBox="1"/>
            <p:nvPr/>
          </p:nvSpPr>
          <p:spPr>
            <a:xfrm rot="1392757">
              <a:off x="1051387" y="585355"/>
              <a:ext cx="1287092" cy="461792"/>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1800">
                  <a:solidFill>
                    <a:schemeClr val="dk2"/>
                  </a:solidFill>
                </a:rPr>
                <a:t>pointers</a:t>
              </a:r>
              <a:endParaRPr sz="1800">
                <a:solidFill>
                  <a:schemeClr val="dk2"/>
                </a:solidFill>
              </a:endParaRPr>
            </a:p>
          </p:txBody>
        </p:sp>
        <p:grpSp>
          <p:nvGrpSpPr>
            <p:cNvPr id="212" name="Google Shape;212;p30"/>
            <p:cNvGrpSpPr/>
            <p:nvPr/>
          </p:nvGrpSpPr>
          <p:grpSpPr>
            <a:xfrm flipH="1" rot="941315">
              <a:off x="2060397" y="103888"/>
              <a:ext cx="1255216" cy="1027679"/>
              <a:chOff x="5994015" y="901923"/>
              <a:chExt cx="1587565" cy="1319216"/>
            </a:xfrm>
          </p:grpSpPr>
          <p:sp>
            <p:nvSpPr>
              <p:cNvPr id="213" name="Google Shape;213;p30"/>
              <p:cNvSpPr/>
              <p:nvPr/>
            </p:nvSpPr>
            <p:spPr>
              <a:xfrm rot="2013881">
                <a:off x="5963697" y="1347212"/>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sp>
            <p:nvSpPr>
              <p:cNvPr id="214" name="Google Shape;214;p30"/>
              <p:cNvSpPr/>
              <p:nvPr/>
            </p:nvSpPr>
            <p:spPr>
              <a:xfrm rot="2013881">
                <a:off x="5923975" y="1520201"/>
                <a:ext cx="1687924" cy="255648"/>
              </a:xfrm>
              <a:custGeom>
                <a:rect b="b" l="l" r="r" t="t"/>
                <a:pathLst>
                  <a:path extrusionOk="0" h="14935" w="41947">
                    <a:moveTo>
                      <a:pt x="0" y="14935"/>
                    </a:moveTo>
                    <a:cubicBezTo>
                      <a:pt x="3072" y="12817"/>
                      <a:pt x="11440" y="4713"/>
                      <a:pt x="18431" y="2224"/>
                    </a:cubicBezTo>
                    <a:cubicBezTo>
                      <a:pt x="25422" y="-265"/>
                      <a:pt x="38028" y="371"/>
                      <a:pt x="41947" y="0"/>
                    </a:cubicBezTo>
                  </a:path>
                </a:pathLst>
              </a:custGeom>
              <a:noFill/>
              <a:ln cap="flat" cmpd="sng" w="9525">
                <a:solidFill>
                  <a:srgbClr val="D9D9D9"/>
                </a:solidFill>
                <a:prstDash val="solid"/>
                <a:round/>
                <a:headEnd len="med" w="med" type="none"/>
                <a:tailEnd len="med" w="med" type="none"/>
              </a:ln>
            </p:spPr>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31"/>
          <p:cNvPicPr preferRelativeResize="0"/>
          <p:nvPr/>
        </p:nvPicPr>
        <p:blipFill>
          <a:blip r:embed="rId3">
            <a:alphaModFix/>
          </a:blip>
          <a:stretch>
            <a:fillRect/>
          </a:stretch>
        </p:blipFill>
        <p:spPr>
          <a:xfrm>
            <a:off x="2645213" y="873013"/>
            <a:ext cx="3853574" cy="3853574"/>
          </a:xfrm>
          <a:prstGeom prst="rect">
            <a:avLst/>
          </a:prstGeom>
          <a:noFill/>
          <a:ln>
            <a:noFill/>
          </a:ln>
        </p:spPr>
      </p:pic>
      <p:pic>
        <p:nvPicPr>
          <p:cNvPr id="220" name="Google Shape;220;p31"/>
          <p:cNvPicPr preferRelativeResize="0"/>
          <p:nvPr/>
        </p:nvPicPr>
        <p:blipFill rotWithShape="1">
          <a:blip r:embed="rId4">
            <a:alphaModFix/>
          </a:blip>
          <a:srcRect b="16957" l="0" r="0" t="0"/>
          <a:stretch/>
        </p:blipFill>
        <p:spPr>
          <a:xfrm rot="937156">
            <a:off x="4427243" y="1107400"/>
            <a:ext cx="742739" cy="616750"/>
          </a:xfrm>
          <a:prstGeom prst="rect">
            <a:avLst/>
          </a:prstGeom>
          <a:noFill/>
          <a:ln>
            <a:noFill/>
          </a:ln>
        </p:spPr>
      </p:pic>
      <p:sp>
        <p:nvSpPr>
          <p:cNvPr id="221" name="Google Shape;221;p31"/>
          <p:cNvSpPr/>
          <p:nvPr/>
        </p:nvSpPr>
        <p:spPr>
          <a:xfrm>
            <a:off x="3997385" y="1957612"/>
            <a:ext cx="390300" cy="387900"/>
          </a:xfrm>
          <a:prstGeom prst="ellipse">
            <a:avLst/>
          </a:prstGeom>
          <a:solidFill>
            <a:srgbClr val="F3F3F3"/>
          </a:solidFill>
          <a:ln cap="flat" cmpd="sng" w="38100">
            <a:solidFill>
              <a:srgbClr val="09090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31"/>
          <p:cNvSpPr/>
          <p:nvPr/>
        </p:nvSpPr>
        <p:spPr>
          <a:xfrm>
            <a:off x="4066685" y="2121499"/>
            <a:ext cx="153300" cy="152400"/>
          </a:xfrm>
          <a:prstGeom prst="ellipse">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23" name="Google Shape;223;p31"/>
          <p:cNvGrpSpPr/>
          <p:nvPr/>
        </p:nvGrpSpPr>
        <p:grpSpPr>
          <a:xfrm rot="7452010">
            <a:off x="4701447" y="1968958"/>
            <a:ext cx="390310" cy="387910"/>
            <a:chOff x="4657400" y="1968825"/>
            <a:chExt cx="390300" cy="387900"/>
          </a:xfrm>
        </p:grpSpPr>
        <p:sp>
          <p:nvSpPr>
            <p:cNvPr id="224" name="Google Shape;224;p31"/>
            <p:cNvSpPr/>
            <p:nvPr/>
          </p:nvSpPr>
          <p:spPr>
            <a:xfrm>
              <a:off x="4657400" y="1968825"/>
              <a:ext cx="390300" cy="387900"/>
            </a:xfrm>
            <a:prstGeom prst="ellipse">
              <a:avLst/>
            </a:prstGeom>
            <a:solidFill>
              <a:srgbClr val="F3F3F3"/>
            </a:solidFill>
            <a:ln cap="flat" cmpd="sng" w="38100">
              <a:solidFill>
                <a:srgbClr val="09090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31"/>
            <p:cNvSpPr/>
            <p:nvPr/>
          </p:nvSpPr>
          <p:spPr>
            <a:xfrm>
              <a:off x="4698200" y="2086575"/>
              <a:ext cx="153300" cy="152400"/>
            </a:xfrm>
            <a:prstGeom prst="ellipse">
              <a:avLst/>
            </a:prstGeom>
            <a:solidFill>
              <a:schemeClr val="dk1"/>
            </a:solidFill>
            <a:ln cap="flat" cmpd="sng" w="38100">
              <a:solidFill>
                <a:srgbClr val="09090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26" name="Google Shape;226;p31"/>
          <p:cNvGrpSpPr/>
          <p:nvPr/>
        </p:nvGrpSpPr>
        <p:grpSpPr>
          <a:xfrm>
            <a:off x="3866350" y="2795575"/>
            <a:ext cx="1420450" cy="1500600"/>
            <a:chOff x="3866350" y="2795575"/>
            <a:chExt cx="1420450" cy="1500600"/>
          </a:xfrm>
        </p:grpSpPr>
        <p:cxnSp>
          <p:nvCxnSpPr>
            <p:cNvPr id="227" name="Google Shape;227;p31"/>
            <p:cNvCxnSpPr/>
            <p:nvPr/>
          </p:nvCxnSpPr>
          <p:spPr>
            <a:xfrm rot="10800000">
              <a:off x="3866350" y="2829300"/>
              <a:ext cx="219000" cy="750300"/>
            </a:xfrm>
            <a:prstGeom prst="straightConnector1">
              <a:avLst/>
            </a:prstGeom>
            <a:noFill/>
            <a:ln cap="flat" cmpd="sng" w="38100">
              <a:solidFill>
                <a:schemeClr val="dk2"/>
              </a:solidFill>
              <a:prstDash val="solid"/>
              <a:round/>
              <a:headEnd len="med" w="med" type="none"/>
              <a:tailEnd len="med" w="med" type="none"/>
            </a:ln>
          </p:spPr>
        </p:cxnSp>
        <p:cxnSp>
          <p:nvCxnSpPr>
            <p:cNvPr id="228" name="Google Shape;228;p31"/>
            <p:cNvCxnSpPr/>
            <p:nvPr/>
          </p:nvCxnSpPr>
          <p:spPr>
            <a:xfrm flipH="1" rot="10800000">
              <a:off x="5067800" y="2795575"/>
              <a:ext cx="219000" cy="750300"/>
            </a:xfrm>
            <a:prstGeom prst="straightConnector1">
              <a:avLst/>
            </a:prstGeom>
            <a:noFill/>
            <a:ln cap="flat" cmpd="sng" w="38100">
              <a:solidFill>
                <a:schemeClr val="dk2"/>
              </a:solidFill>
              <a:prstDash val="solid"/>
              <a:round/>
              <a:headEnd len="med" w="med" type="none"/>
              <a:tailEnd len="med" w="med" type="none"/>
            </a:ln>
          </p:spPr>
        </p:cxnSp>
        <p:sp>
          <p:nvSpPr>
            <p:cNvPr id="229" name="Google Shape;229;p31"/>
            <p:cNvSpPr/>
            <p:nvPr/>
          </p:nvSpPr>
          <p:spPr>
            <a:xfrm>
              <a:off x="3925200" y="3545875"/>
              <a:ext cx="1306500" cy="750300"/>
            </a:xfrm>
            <a:prstGeom prst="roundRect">
              <a:avLst>
                <a:gd fmla="val 16667" name="adj"/>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nl" sz="3400"/>
                <a:t>C++</a:t>
              </a:r>
              <a:endParaRPr b="1" sz="3400"/>
            </a:p>
          </p:txBody>
        </p:sp>
      </p:grpSp>
      <p:sp>
        <p:nvSpPr>
          <p:cNvPr id="230" name="Google Shape;230;p31"/>
          <p:cNvSpPr/>
          <p:nvPr/>
        </p:nvSpPr>
        <p:spPr>
          <a:xfrm rot="950543">
            <a:off x="3930217" y="3569774"/>
            <a:ext cx="1283554" cy="707875"/>
          </a:xfrm>
          <a:prstGeom prst="rect">
            <a:avLst/>
          </a:pr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sz="3000"/>
              <a:t>HLS</a:t>
            </a:r>
            <a:endParaRPr sz="3000"/>
          </a:p>
        </p:txBody>
      </p:sp>
      <p:sp>
        <p:nvSpPr>
          <p:cNvPr id="231" name="Google Shape;231;p31"/>
          <p:cNvSpPr/>
          <p:nvPr/>
        </p:nvSpPr>
        <p:spPr>
          <a:xfrm rot="-2700000">
            <a:off x="4801150" y="3764041"/>
            <a:ext cx="190919" cy="190919"/>
          </a:xfrm>
          <a:prstGeom prst="star4">
            <a:avLst>
              <a:gd fmla="val 12500" name="adj"/>
            </a:avLst>
          </a:prstGeom>
          <a:solidFill>
            <a:srgbClr val="FFFF00"/>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31"/>
          <p:cNvSpPr/>
          <p:nvPr/>
        </p:nvSpPr>
        <p:spPr>
          <a:xfrm rot="-2700000">
            <a:off x="4970751" y="3912625"/>
            <a:ext cx="173100" cy="173100"/>
          </a:xfrm>
          <a:prstGeom prst="star4">
            <a:avLst>
              <a:gd fmla="val 12500" name="adj"/>
            </a:avLst>
          </a:prstGeom>
          <a:solidFill>
            <a:srgbClr val="FFFF00"/>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31"/>
          <p:cNvSpPr/>
          <p:nvPr/>
        </p:nvSpPr>
        <p:spPr>
          <a:xfrm rot="-2700000">
            <a:off x="4995785" y="3728257"/>
            <a:ext cx="123037" cy="123037"/>
          </a:xfrm>
          <a:prstGeom prst="star4">
            <a:avLst>
              <a:gd fmla="val 12500" name="adj"/>
            </a:avLst>
          </a:prstGeom>
          <a:solidFill>
            <a:srgbClr val="FFFF00"/>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31"/>
          <p:cNvSpPr txBox="1"/>
          <p:nvPr/>
        </p:nvSpPr>
        <p:spPr>
          <a:xfrm>
            <a:off x="489800" y="621775"/>
            <a:ext cx="23145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2200">
                <a:solidFill>
                  <a:schemeClr val="dk2"/>
                </a:solidFill>
              </a:rPr>
              <a:t>“ Single-source host and kernel ”</a:t>
            </a:r>
            <a:endParaRPr sz="2200">
              <a:solidFill>
                <a:schemeClr val="dk2"/>
              </a:solidFill>
            </a:endParaRPr>
          </a:p>
        </p:txBody>
      </p:sp>
      <p:sp>
        <p:nvSpPr>
          <p:cNvPr id="235" name="Google Shape;235;p31"/>
          <p:cNvSpPr txBox="1"/>
          <p:nvPr/>
        </p:nvSpPr>
        <p:spPr>
          <a:xfrm>
            <a:off x="520400" y="2140800"/>
            <a:ext cx="29082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2200">
                <a:solidFill>
                  <a:schemeClr val="dk2"/>
                </a:solidFill>
              </a:rPr>
              <a:t>“ Turn software devs into hardware devs ”</a:t>
            </a:r>
            <a:endParaRPr sz="2200">
              <a:solidFill>
                <a:schemeClr val="dk2"/>
              </a:solidFill>
            </a:endParaRPr>
          </a:p>
        </p:txBody>
      </p:sp>
      <p:sp>
        <p:nvSpPr>
          <p:cNvPr id="236" name="Google Shape;236;p31"/>
          <p:cNvSpPr txBox="1"/>
          <p:nvPr/>
        </p:nvSpPr>
        <p:spPr>
          <a:xfrm>
            <a:off x="5530050" y="261525"/>
            <a:ext cx="32124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2200">
                <a:solidFill>
                  <a:schemeClr val="dk2"/>
                </a:solidFill>
              </a:rPr>
              <a:t>“ It improves portability ”</a:t>
            </a:r>
            <a:endParaRPr sz="2200">
              <a:solidFill>
                <a:schemeClr val="dk2"/>
              </a:solidFill>
            </a:endParaRPr>
          </a:p>
        </p:txBody>
      </p:sp>
      <p:sp>
        <p:nvSpPr>
          <p:cNvPr id="237" name="Google Shape;237;p31"/>
          <p:cNvSpPr txBox="1"/>
          <p:nvPr/>
        </p:nvSpPr>
        <p:spPr>
          <a:xfrm>
            <a:off x="6428475" y="1403700"/>
            <a:ext cx="26421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2200">
                <a:solidFill>
                  <a:schemeClr val="dk2"/>
                </a:solidFill>
              </a:rPr>
              <a:t>“ The compiler will figure it out ”</a:t>
            </a:r>
            <a:endParaRPr sz="22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243" name="Google Shape;243;p32"/>
          <p:cNvSpPr txBox="1"/>
          <p:nvPr>
            <p:ph idx="1" type="body"/>
          </p:nvPr>
        </p:nvSpPr>
        <p:spPr>
          <a:xfrm>
            <a:off x="628650" y="1369225"/>
            <a:ext cx="8255700" cy="35616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317500" lvl="0" marL="457200" rtl="0" algn="l">
              <a:lnSpc>
                <a:spcPct val="115000"/>
              </a:lnSpc>
              <a:spcBef>
                <a:spcPts val="0"/>
              </a:spcBef>
              <a:spcAft>
                <a:spcPts val="0"/>
              </a:spcAft>
              <a:buSzPts val="1400"/>
              <a:buChar char="-"/>
            </a:pPr>
            <a:r>
              <a:rPr b="1" lang="nl"/>
              <a:t>Embedded Generation Languages (Chisel in Scala, SystemC in C++)?</a:t>
            </a:r>
            <a:endParaRPr b="1"/>
          </a:p>
          <a:p>
            <a:pPr indent="-317500" lvl="1" marL="914400" rtl="0" algn="l">
              <a:lnSpc>
                <a:spcPct val="115000"/>
              </a:lnSpc>
              <a:spcBef>
                <a:spcPts val="0"/>
              </a:spcBef>
              <a:spcAft>
                <a:spcPts val="0"/>
              </a:spcAft>
              <a:buSzPts val="1400"/>
              <a:buChar char="-"/>
            </a:pPr>
            <a:r>
              <a:rPr lang="nl"/>
              <a:t>Suffer under parent language Syntax</a:t>
            </a:r>
            <a:endParaRPr/>
          </a:p>
          <a:p>
            <a:pPr indent="-317500" lvl="1" marL="914400" rtl="0" algn="l">
              <a:lnSpc>
                <a:spcPct val="115000"/>
              </a:lnSpc>
              <a:spcBef>
                <a:spcPts val="0"/>
              </a:spcBef>
              <a:spcAft>
                <a:spcPts val="0"/>
              </a:spcAft>
              <a:buSzPts val="1400"/>
              <a:buChar char="-"/>
            </a:pPr>
            <a:r>
              <a:rPr lang="nl"/>
              <a:t>Little defence against incorrect hardware</a:t>
            </a:r>
            <a:endParaRPr/>
          </a:p>
          <a:p>
            <a:pPr indent="-317500" lvl="1" marL="914400" rtl="0" algn="l">
              <a:lnSpc>
                <a:spcPct val="115000"/>
              </a:lnSpc>
              <a:spcBef>
                <a:spcPts val="0"/>
              </a:spcBef>
              <a:spcAft>
                <a:spcPts val="0"/>
              </a:spcAft>
              <a:buSzPts val="1400"/>
              <a:buChar char="-"/>
            </a:pPr>
            <a:r>
              <a:rPr lang="nl"/>
              <a:t>No hardware-specific IDE support</a:t>
            </a:r>
            <a:endParaRPr/>
          </a:p>
          <a:p>
            <a:pPr indent="-317500" lvl="0" marL="457200" rtl="0" algn="l">
              <a:lnSpc>
                <a:spcPct val="115000"/>
              </a:lnSpc>
              <a:spcBef>
                <a:spcPts val="0"/>
              </a:spcBef>
              <a:spcAft>
                <a:spcPts val="0"/>
              </a:spcAft>
              <a:buSzPts val="1400"/>
              <a:buChar char="-"/>
            </a:pPr>
            <a:r>
              <a:rPr b="1" lang="nl"/>
              <a:t>HLS?</a:t>
            </a:r>
            <a:endParaRPr/>
          </a:p>
          <a:p>
            <a:pPr indent="0" lvl="0" marL="0" rtl="0" algn="l">
              <a:lnSpc>
                <a:spcPct val="115000"/>
              </a:lnSpc>
              <a:spcBef>
                <a:spcPts val="1200"/>
              </a:spcBef>
              <a:spcAft>
                <a:spcPts val="1200"/>
              </a:spcAft>
              <a:buNone/>
            </a:pPr>
            <a:r>
              <a:t/>
            </a:r>
            <a:endParaRPr b="1"/>
          </a:p>
        </p:txBody>
      </p:sp>
      <p:pic>
        <p:nvPicPr>
          <p:cNvPr id="244" name="Google Shape;244;p32"/>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250" name="Google Shape;250;p33"/>
          <p:cNvSpPr txBox="1"/>
          <p:nvPr>
            <p:ph idx="1" type="body"/>
          </p:nvPr>
        </p:nvSpPr>
        <p:spPr>
          <a:xfrm>
            <a:off x="628650" y="1369225"/>
            <a:ext cx="8255700" cy="35616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317500" lvl="0" marL="457200" rtl="0" algn="l">
              <a:lnSpc>
                <a:spcPct val="115000"/>
              </a:lnSpc>
              <a:spcBef>
                <a:spcPts val="0"/>
              </a:spcBef>
              <a:spcAft>
                <a:spcPts val="0"/>
              </a:spcAft>
              <a:buSzPts val="1400"/>
              <a:buChar char="-"/>
            </a:pPr>
            <a:r>
              <a:rPr b="1" lang="nl"/>
              <a:t>Embedded Generation Languages (Chisel in Scala, SystemC in C++)?</a:t>
            </a:r>
            <a:endParaRPr b="1"/>
          </a:p>
          <a:p>
            <a:pPr indent="-317500" lvl="1" marL="914400" rtl="0" algn="l">
              <a:lnSpc>
                <a:spcPct val="115000"/>
              </a:lnSpc>
              <a:spcBef>
                <a:spcPts val="0"/>
              </a:spcBef>
              <a:spcAft>
                <a:spcPts val="0"/>
              </a:spcAft>
              <a:buSzPts val="1400"/>
              <a:buChar char="-"/>
            </a:pPr>
            <a:r>
              <a:rPr lang="nl"/>
              <a:t>Suffer under parent language Syntax</a:t>
            </a:r>
            <a:endParaRPr/>
          </a:p>
          <a:p>
            <a:pPr indent="-317500" lvl="1" marL="914400" rtl="0" algn="l">
              <a:lnSpc>
                <a:spcPct val="115000"/>
              </a:lnSpc>
              <a:spcBef>
                <a:spcPts val="0"/>
              </a:spcBef>
              <a:spcAft>
                <a:spcPts val="0"/>
              </a:spcAft>
              <a:buSzPts val="1400"/>
              <a:buChar char="-"/>
            </a:pPr>
            <a:r>
              <a:rPr lang="nl"/>
              <a:t>Little defence against incorrect hardware</a:t>
            </a:r>
            <a:endParaRPr/>
          </a:p>
          <a:p>
            <a:pPr indent="-317500" lvl="1" marL="914400" rtl="0" algn="l">
              <a:lnSpc>
                <a:spcPct val="115000"/>
              </a:lnSpc>
              <a:spcBef>
                <a:spcPts val="0"/>
              </a:spcBef>
              <a:spcAft>
                <a:spcPts val="0"/>
              </a:spcAft>
              <a:buSzPts val="1400"/>
              <a:buChar char="-"/>
            </a:pPr>
            <a:r>
              <a:rPr lang="nl"/>
              <a:t>No hardware-specific IDE support</a:t>
            </a:r>
            <a:endParaRPr/>
          </a:p>
          <a:p>
            <a:pPr indent="-317500" lvl="0" marL="457200" rtl="0" algn="l">
              <a:lnSpc>
                <a:spcPct val="115000"/>
              </a:lnSpc>
              <a:spcBef>
                <a:spcPts val="0"/>
              </a:spcBef>
              <a:spcAft>
                <a:spcPts val="0"/>
              </a:spcAft>
              <a:buSzPts val="1400"/>
              <a:buChar char="-"/>
            </a:pPr>
            <a:r>
              <a:rPr b="1" lang="nl"/>
              <a:t>HLS?</a:t>
            </a:r>
            <a:endParaRPr b="1"/>
          </a:p>
          <a:p>
            <a:pPr indent="-317500" lvl="1" marL="914400" rtl="0" algn="l">
              <a:lnSpc>
                <a:spcPct val="115000"/>
              </a:lnSpc>
              <a:spcBef>
                <a:spcPts val="0"/>
              </a:spcBef>
              <a:spcAft>
                <a:spcPts val="0"/>
              </a:spcAft>
              <a:buSzPts val="1400"/>
              <a:buChar char="-"/>
            </a:pPr>
            <a:r>
              <a:rPr lang="nl"/>
              <a:t>Lose control over generated hardware (Are you sure it’s optimal?)</a:t>
            </a:r>
            <a:endParaRPr/>
          </a:p>
          <a:p>
            <a:pPr indent="-317500" lvl="1" marL="914400" rtl="0" algn="l">
              <a:lnSpc>
                <a:spcPct val="115000"/>
              </a:lnSpc>
              <a:spcBef>
                <a:spcPts val="0"/>
              </a:spcBef>
              <a:spcAft>
                <a:spcPts val="0"/>
              </a:spcAft>
              <a:buSzPts val="1400"/>
              <a:buChar char="-"/>
            </a:pPr>
            <a:r>
              <a:rPr lang="nl"/>
              <a:t>(Corporate HLS) is not portable at all, and stifles lower-level access for competitors</a:t>
            </a:r>
            <a:endParaRPr/>
          </a:p>
          <a:p>
            <a:pPr indent="0" lvl="0" marL="0" rtl="0" algn="l">
              <a:lnSpc>
                <a:spcPct val="115000"/>
              </a:lnSpc>
              <a:spcBef>
                <a:spcPts val="1200"/>
              </a:spcBef>
              <a:spcAft>
                <a:spcPts val="1200"/>
              </a:spcAft>
              <a:buNone/>
            </a:pPr>
            <a:r>
              <a:t/>
            </a:r>
            <a:endParaRPr b="1"/>
          </a:p>
        </p:txBody>
      </p:sp>
      <p:pic>
        <p:nvPicPr>
          <p:cNvPr id="251" name="Google Shape;251;p33"/>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257" name="Google Shape;257;p34"/>
          <p:cNvSpPr txBox="1"/>
          <p:nvPr>
            <p:ph idx="1" type="body"/>
          </p:nvPr>
        </p:nvSpPr>
        <p:spPr>
          <a:xfrm>
            <a:off x="628650" y="1369225"/>
            <a:ext cx="8255700" cy="35616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317500" lvl="0" marL="457200" rtl="0" algn="l">
              <a:lnSpc>
                <a:spcPct val="115000"/>
              </a:lnSpc>
              <a:spcBef>
                <a:spcPts val="0"/>
              </a:spcBef>
              <a:spcAft>
                <a:spcPts val="0"/>
              </a:spcAft>
              <a:buSzPts val="1400"/>
              <a:buChar char="-"/>
            </a:pPr>
            <a:r>
              <a:rPr b="1" lang="nl"/>
              <a:t>Embedded Generation Languages (Chisel in Scala, SystemC in C++)?</a:t>
            </a:r>
            <a:endParaRPr b="1"/>
          </a:p>
          <a:p>
            <a:pPr indent="-317500" lvl="1" marL="914400" rtl="0" algn="l">
              <a:lnSpc>
                <a:spcPct val="115000"/>
              </a:lnSpc>
              <a:spcBef>
                <a:spcPts val="0"/>
              </a:spcBef>
              <a:spcAft>
                <a:spcPts val="0"/>
              </a:spcAft>
              <a:buSzPts val="1400"/>
              <a:buChar char="-"/>
            </a:pPr>
            <a:r>
              <a:rPr lang="nl"/>
              <a:t>Suffer under parent language Syntax</a:t>
            </a:r>
            <a:endParaRPr/>
          </a:p>
          <a:p>
            <a:pPr indent="-317500" lvl="1" marL="914400" rtl="0" algn="l">
              <a:lnSpc>
                <a:spcPct val="115000"/>
              </a:lnSpc>
              <a:spcBef>
                <a:spcPts val="0"/>
              </a:spcBef>
              <a:spcAft>
                <a:spcPts val="0"/>
              </a:spcAft>
              <a:buSzPts val="1400"/>
              <a:buChar char="-"/>
            </a:pPr>
            <a:r>
              <a:rPr lang="nl"/>
              <a:t>Little defence against incorrect hardware</a:t>
            </a:r>
            <a:endParaRPr/>
          </a:p>
          <a:p>
            <a:pPr indent="-317500" lvl="1" marL="914400" rtl="0" algn="l">
              <a:lnSpc>
                <a:spcPct val="115000"/>
              </a:lnSpc>
              <a:spcBef>
                <a:spcPts val="0"/>
              </a:spcBef>
              <a:spcAft>
                <a:spcPts val="0"/>
              </a:spcAft>
              <a:buSzPts val="1400"/>
              <a:buChar char="-"/>
            </a:pPr>
            <a:r>
              <a:rPr lang="nl"/>
              <a:t>No hardware-specific IDE support</a:t>
            </a:r>
            <a:endParaRPr/>
          </a:p>
          <a:p>
            <a:pPr indent="-317500" lvl="0" marL="457200" rtl="0" algn="l">
              <a:lnSpc>
                <a:spcPct val="115000"/>
              </a:lnSpc>
              <a:spcBef>
                <a:spcPts val="0"/>
              </a:spcBef>
              <a:spcAft>
                <a:spcPts val="0"/>
              </a:spcAft>
              <a:buSzPts val="1400"/>
              <a:buChar char="-"/>
            </a:pPr>
            <a:r>
              <a:rPr b="1" lang="nl"/>
              <a:t>HLS?</a:t>
            </a:r>
            <a:endParaRPr b="1"/>
          </a:p>
          <a:p>
            <a:pPr indent="-317500" lvl="1" marL="914400" rtl="0" algn="l">
              <a:lnSpc>
                <a:spcPct val="115000"/>
              </a:lnSpc>
              <a:spcBef>
                <a:spcPts val="0"/>
              </a:spcBef>
              <a:spcAft>
                <a:spcPts val="0"/>
              </a:spcAft>
              <a:buSzPts val="1400"/>
              <a:buChar char="-"/>
            </a:pPr>
            <a:r>
              <a:rPr lang="nl"/>
              <a:t>Lose control over generated hardware (Are you sure it’s optimal?)</a:t>
            </a:r>
            <a:endParaRPr/>
          </a:p>
          <a:p>
            <a:pPr indent="-317500" lvl="1" marL="914400" rtl="0" algn="l">
              <a:lnSpc>
                <a:spcPct val="115000"/>
              </a:lnSpc>
              <a:spcBef>
                <a:spcPts val="0"/>
              </a:spcBef>
              <a:spcAft>
                <a:spcPts val="0"/>
              </a:spcAft>
              <a:buSzPts val="1400"/>
              <a:buChar char="-"/>
            </a:pPr>
            <a:r>
              <a:rPr lang="nl"/>
              <a:t>(Corporate HLS) is not portable at all, and stifles lower-level access for competitors</a:t>
            </a:r>
            <a:endParaRPr/>
          </a:p>
          <a:p>
            <a:pPr indent="-317500" lvl="0" marL="457200" rtl="0" algn="l">
              <a:lnSpc>
                <a:spcPct val="115000"/>
              </a:lnSpc>
              <a:spcBef>
                <a:spcPts val="0"/>
              </a:spcBef>
              <a:spcAft>
                <a:spcPts val="0"/>
              </a:spcAft>
              <a:buSzPts val="1400"/>
              <a:buChar char="-"/>
            </a:pPr>
            <a:r>
              <a:rPr b="1" lang="nl"/>
              <a:t>Other NeoHDLs (Filament &amp; Spade)?</a:t>
            </a:r>
            <a:endParaRPr/>
          </a:p>
        </p:txBody>
      </p:sp>
      <p:pic>
        <p:nvPicPr>
          <p:cNvPr id="258" name="Google Shape;258;p34"/>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Where do other languages fall short?</a:t>
            </a:r>
            <a:endParaRPr/>
          </a:p>
        </p:txBody>
      </p:sp>
      <p:sp>
        <p:nvSpPr>
          <p:cNvPr id="264" name="Google Shape;264;p35"/>
          <p:cNvSpPr txBox="1"/>
          <p:nvPr>
            <p:ph idx="1" type="body"/>
          </p:nvPr>
        </p:nvSpPr>
        <p:spPr>
          <a:xfrm>
            <a:off x="628650" y="1369225"/>
            <a:ext cx="8255700" cy="35616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b="1" lang="nl"/>
              <a:t>(System)Verilog, VHDL?</a:t>
            </a:r>
            <a:endParaRPr/>
          </a:p>
          <a:p>
            <a:pPr indent="-317500" lvl="1" marL="914400" rtl="0" algn="l">
              <a:lnSpc>
                <a:spcPct val="115000"/>
              </a:lnSpc>
              <a:spcBef>
                <a:spcPts val="0"/>
              </a:spcBef>
              <a:spcAft>
                <a:spcPts val="0"/>
              </a:spcAft>
              <a:buSzPts val="1400"/>
              <a:buChar char="-"/>
            </a:pPr>
            <a:r>
              <a:rPr i="1" lang="nl"/>
              <a:t>Very</a:t>
            </a:r>
            <a:r>
              <a:rPr lang="nl"/>
              <a:t> verbose</a:t>
            </a:r>
            <a:endParaRPr/>
          </a:p>
          <a:p>
            <a:pPr indent="-317500" lvl="1" marL="914400" rtl="0" algn="l">
              <a:lnSpc>
                <a:spcPct val="115000"/>
              </a:lnSpc>
              <a:spcBef>
                <a:spcPts val="0"/>
              </a:spcBef>
              <a:spcAft>
                <a:spcPts val="0"/>
              </a:spcAft>
              <a:buSzPts val="1400"/>
              <a:buChar char="-"/>
            </a:pPr>
            <a:r>
              <a:rPr lang="nl"/>
              <a:t>No defence against incorrect hardware</a:t>
            </a:r>
            <a:endParaRPr/>
          </a:p>
          <a:p>
            <a:pPr indent="-317500" lvl="0" marL="457200" rtl="0" algn="l">
              <a:lnSpc>
                <a:spcPct val="115000"/>
              </a:lnSpc>
              <a:spcBef>
                <a:spcPts val="0"/>
              </a:spcBef>
              <a:spcAft>
                <a:spcPts val="0"/>
              </a:spcAft>
              <a:buSzPts val="1400"/>
              <a:buChar char="-"/>
            </a:pPr>
            <a:r>
              <a:rPr b="1" lang="nl"/>
              <a:t>Embedded Generation Languages (Chisel in Scala, SystemC in C++)?</a:t>
            </a:r>
            <a:endParaRPr b="1"/>
          </a:p>
          <a:p>
            <a:pPr indent="-317500" lvl="1" marL="914400" rtl="0" algn="l">
              <a:lnSpc>
                <a:spcPct val="115000"/>
              </a:lnSpc>
              <a:spcBef>
                <a:spcPts val="0"/>
              </a:spcBef>
              <a:spcAft>
                <a:spcPts val="0"/>
              </a:spcAft>
              <a:buSzPts val="1400"/>
              <a:buChar char="-"/>
            </a:pPr>
            <a:r>
              <a:rPr lang="nl"/>
              <a:t>Suffer under parent language Syntax</a:t>
            </a:r>
            <a:endParaRPr/>
          </a:p>
          <a:p>
            <a:pPr indent="-317500" lvl="1" marL="914400" rtl="0" algn="l">
              <a:lnSpc>
                <a:spcPct val="115000"/>
              </a:lnSpc>
              <a:spcBef>
                <a:spcPts val="0"/>
              </a:spcBef>
              <a:spcAft>
                <a:spcPts val="0"/>
              </a:spcAft>
              <a:buSzPts val="1400"/>
              <a:buChar char="-"/>
            </a:pPr>
            <a:r>
              <a:rPr lang="nl"/>
              <a:t>Little defence against incorrect hardware</a:t>
            </a:r>
            <a:endParaRPr/>
          </a:p>
          <a:p>
            <a:pPr indent="-317500" lvl="1" marL="914400" rtl="0" algn="l">
              <a:lnSpc>
                <a:spcPct val="115000"/>
              </a:lnSpc>
              <a:spcBef>
                <a:spcPts val="0"/>
              </a:spcBef>
              <a:spcAft>
                <a:spcPts val="0"/>
              </a:spcAft>
              <a:buSzPts val="1400"/>
              <a:buChar char="-"/>
            </a:pPr>
            <a:r>
              <a:rPr lang="nl"/>
              <a:t>No hardware-specific IDE support</a:t>
            </a:r>
            <a:endParaRPr/>
          </a:p>
          <a:p>
            <a:pPr indent="-317500" lvl="0" marL="457200" rtl="0" algn="l">
              <a:lnSpc>
                <a:spcPct val="115000"/>
              </a:lnSpc>
              <a:spcBef>
                <a:spcPts val="0"/>
              </a:spcBef>
              <a:spcAft>
                <a:spcPts val="0"/>
              </a:spcAft>
              <a:buSzPts val="1400"/>
              <a:buChar char="-"/>
            </a:pPr>
            <a:r>
              <a:rPr b="1" lang="nl"/>
              <a:t>HLS?</a:t>
            </a:r>
            <a:endParaRPr b="1"/>
          </a:p>
          <a:p>
            <a:pPr indent="-317500" lvl="1" marL="914400" rtl="0" algn="l">
              <a:lnSpc>
                <a:spcPct val="115000"/>
              </a:lnSpc>
              <a:spcBef>
                <a:spcPts val="0"/>
              </a:spcBef>
              <a:spcAft>
                <a:spcPts val="0"/>
              </a:spcAft>
              <a:buSzPts val="1400"/>
              <a:buChar char="-"/>
            </a:pPr>
            <a:r>
              <a:rPr lang="nl"/>
              <a:t>Lose control over generated hardware (Are you sure it’s optimal?)</a:t>
            </a:r>
            <a:endParaRPr/>
          </a:p>
          <a:p>
            <a:pPr indent="-317500" lvl="1" marL="914400" rtl="0" algn="l">
              <a:lnSpc>
                <a:spcPct val="115000"/>
              </a:lnSpc>
              <a:spcBef>
                <a:spcPts val="0"/>
              </a:spcBef>
              <a:spcAft>
                <a:spcPts val="0"/>
              </a:spcAft>
              <a:buSzPts val="1400"/>
              <a:buChar char="-"/>
            </a:pPr>
            <a:r>
              <a:rPr lang="nl"/>
              <a:t>(Corporate HLS) is not portable at all, and stifles lower-level access for competitors</a:t>
            </a:r>
            <a:endParaRPr/>
          </a:p>
          <a:p>
            <a:pPr indent="-317500" lvl="0" marL="457200" rtl="0" algn="l">
              <a:lnSpc>
                <a:spcPct val="115000"/>
              </a:lnSpc>
              <a:spcBef>
                <a:spcPts val="0"/>
              </a:spcBef>
              <a:spcAft>
                <a:spcPts val="0"/>
              </a:spcAft>
              <a:buSzPts val="1400"/>
              <a:buChar char="-"/>
            </a:pPr>
            <a:r>
              <a:rPr b="1" lang="nl"/>
              <a:t>Other NeoHDLs (Filament &amp; Spade)?</a:t>
            </a:r>
            <a:endParaRPr sz="1400"/>
          </a:p>
          <a:p>
            <a:pPr indent="-317500" lvl="1" marL="914400" rtl="0" algn="l">
              <a:lnSpc>
                <a:spcPct val="115000"/>
              </a:lnSpc>
              <a:spcBef>
                <a:spcPts val="0"/>
              </a:spcBef>
              <a:spcAft>
                <a:spcPts val="0"/>
              </a:spcAft>
              <a:buSzPts val="1400"/>
              <a:buChar char="-"/>
            </a:pPr>
            <a:r>
              <a:rPr lang="nl" sz="1400"/>
              <a:t>Focus on </a:t>
            </a:r>
            <a:r>
              <a:rPr lang="nl"/>
              <a:t>Correctness</a:t>
            </a:r>
            <a:endParaRPr b="1"/>
          </a:p>
          <a:p>
            <a:pPr indent="-317500" lvl="1" marL="914400" rtl="0" algn="l">
              <a:lnSpc>
                <a:spcPct val="115000"/>
              </a:lnSpc>
              <a:spcBef>
                <a:spcPts val="0"/>
              </a:spcBef>
              <a:spcAft>
                <a:spcPts val="0"/>
              </a:spcAft>
              <a:buSzPts val="1400"/>
              <a:buChar char="-"/>
            </a:pPr>
            <a:r>
              <a:rPr lang="nl"/>
              <a:t>Focus on Timing</a:t>
            </a:r>
            <a:endParaRPr/>
          </a:p>
        </p:txBody>
      </p:sp>
      <p:pic>
        <p:nvPicPr>
          <p:cNvPr id="265" name="Google Shape;265;p35"/>
          <p:cNvPicPr preferRelativeResize="0"/>
          <p:nvPr/>
        </p:nvPicPr>
        <p:blipFill rotWithShape="1">
          <a:blip r:embed="rId3">
            <a:alphaModFix/>
          </a:blip>
          <a:srcRect b="0" l="50000" r="0" t="0"/>
          <a:stretch/>
        </p:blipFill>
        <p:spPr>
          <a:xfrm rot="1015605">
            <a:off x="7489981" y="384825"/>
            <a:ext cx="1233915" cy="11310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271" name="Google Shape;271;p3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272" name="Google Shape;272;p36"/>
          <p:cNvPicPr preferRelativeResize="0"/>
          <p:nvPr/>
        </p:nvPicPr>
        <p:blipFill>
          <a:blip r:embed="rId3">
            <a:alphaModFix/>
          </a:blip>
          <a:stretch>
            <a:fillRect/>
          </a:stretch>
        </p:blipFill>
        <p:spPr>
          <a:xfrm>
            <a:off x="37564" y="0"/>
            <a:ext cx="4999121" cy="5143500"/>
          </a:xfrm>
          <a:prstGeom prst="rect">
            <a:avLst/>
          </a:prstGeom>
          <a:noFill/>
          <a:ln>
            <a:noFill/>
          </a:ln>
        </p:spPr>
      </p:pic>
      <p:pic>
        <p:nvPicPr>
          <p:cNvPr id="273" name="Google Shape;273;p36"/>
          <p:cNvPicPr preferRelativeResize="0"/>
          <p:nvPr/>
        </p:nvPicPr>
        <p:blipFill>
          <a:blip r:embed="rId4">
            <a:alphaModFix/>
          </a:blip>
          <a:stretch>
            <a:fillRect/>
          </a:stretch>
        </p:blipFill>
        <p:spPr>
          <a:xfrm>
            <a:off x="5365090" y="0"/>
            <a:ext cx="3730019"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sp>
        <p:nvSpPr>
          <p:cNvPr id="278" name="Google Shape;278;p3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Hot Takes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Hot Takes</a:t>
            </a:r>
            <a:endParaRPr/>
          </a:p>
        </p:txBody>
      </p:sp>
      <p:sp>
        <p:nvSpPr>
          <p:cNvPr id="284" name="Google Shape;284;p3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lnSpc>
                <a:spcPct val="115000"/>
              </a:lnSpc>
              <a:spcBef>
                <a:spcPts val="800"/>
              </a:spcBef>
              <a:spcAft>
                <a:spcPts val="0"/>
              </a:spcAft>
              <a:buNone/>
            </a:pPr>
            <a:r>
              <a:rPr lang="nl"/>
              <a:t>There are no reusable hardware components</a:t>
            </a:r>
            <a:endParaRPr/>
          </a:p>
          <a:p>
            <a:pPr indent="0" lvl="0" marL="0" rtl="0" algn="l">
              <a:lnSpc>
                <a:spcPct val="115000"/>
              </a:lnSpc>
              <a:spcBef>
                <a:spcPts val="1200"/>
              </a:spcBef>
              <a:spcAft>
                <a:spcPts val="0"/>
              </a:spcAft>
              <a:buNone/>
            </a:pPr>
            <a:r>
              <a:rPr lang="nl"/>
              <a:t>Software prototyping for hardware doesn’t exist</a:t>
            </a:r>
            <a:br>
              <a:rPr lang="nl"/>
            </a:br>
            <a:r>
              <a:rPr lang="nl"/>
              <a:t>	(unless it’s named Verilator)</a:t>
            </a:r>
            <a:endParaRPr/>
          </a:p>
          <a:p>
            <a:pPr indent="0" lvl="0" marL="0" rtl="0" algn="l">
              <a:lnSpc>
                <a:spcPct val="115000"/>
              </a:lnSpc>
              <a:spcBef>
                <a:spcPts val="1200"/>
              </a:spcBef>
              <a:spcAft>
                <a:spcPts val="0"/>
              </a:spcAft>
              <a:buNone/>
            </a:pPr>
            <a:r>
              <a:rPr lang="nl"/>
              <a:t>HLS is not the solution</a:t>
            </a:r>
            <a:endParaRPr/>
          </a:p>
          <a:p>
            <a:pPr indent="0" lvl="0" marL="0" rtl="0" algn="l">
              <a:lnSpc>
                <a:spcPct val="115000"/>
              </a:lnSpc>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39"/>
          <p:cNvSpPr txBox="1"/>
          <p:nvPr/>
        </p:nvSpPr>
        <p:spPr>
          <a:xfrm>
            <a:off x="2379300" y="583725"/>
            <a:ext cx="4385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3000">
                <a:solidFill>
                  <a:schemeClr val="dk2"/>
                </a:solidFill>
              </a:rPr>
              <a:t>So… </a:t>
            </a:r>
            <a:r>
              <a:rPr lang="nl" sz="3000">
                <a:solidFill>
                  <a:srgbClr val="FF0000"/>
                </a:solidFill>
              </a:rPr>
              <a:t>Abstraction Bad? </a:t>
            </a:r>
            <a:endParaRPr sz="3000">
              <a:solidFill>
                <a:srgbClr val="FF0000"/>
              </a:solidFill>
            </a:endParaRPr>
          </a:p>
        </p:txBody>
      </p:sp>
      <p:sp>
        <p:nvSpPr>
          <p:cNvPr id="290" name="Google Shape;290;p39"/>
          <p:cNvSpPr txBox="1"/>
          <p:nvPr/>
        </p:nvSpPr>
        <p:spPr>
          <a:xfrm>
            <a:off x="2379311" y="1360439"/>
            <a:ext cx="4385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3000">
                <a:solidFill>
                  <a:schemeClr val="dk2"/>
                </a:solidFill>
              </a:rPr>
              <a:t>Of course not.</a:t>
            </a:r>
            <a:endParaRPr sz="3000">
              <a:solidFill>
                <a:schemeClr val="dk2"/>
              </a:solidFill>
            </a:endParaRPr>
          </a:p>
        </p:txBody>
      </p:sp>
      <p:sp>
        <p:nvSpPr>
          <p:cNvPr id="291" name="Google Shape;291;p39"/>
          <p:cNvSpPr txBox="1"/>
          <p:nvPr/>
        </p:nvSpPr>
        <p:spPr>
          <a:xfrm>
            <a:off x="2379311" y="2137164"/>
            <a:ext cx="4385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3000">
                <a:solidFill>
                  <a:srgbClr val="38761D"/>
                </a:solidFill>
              </a:rPr>
              <a:t>Abstraction Good!</a:t>
            </a:r>
            <a:endParaRPr sz="3000">
              <a:solidFill>
                <a:srgbClr val="38761D"/>
              </a:solidFill>
            </a:endParaRPr>
          </a:p>
        </p:txBody>
      </p:sp>
      <p:pic>
        <p:nvPicPr>
          <p:cNvPr id="292" name="Google Shape;292;p39"/>
          <p:cNvPicPr preferRelativeResize="0"/>
          <p:nvPr/>
        </p:nvPicPr>
        <p:blipFill>
          <a:blip r:embed="rId3">
            <a:alphaModFix/>
          </a:blip>
          <a:stretch>
            <a:fillRect/>
          </a:stretch>
        </p:blipFill>
        <p:spPr>
          <a:xfrm>
            <a:off x="2548100" y="2913889"/>
            <a:ext cx="4047797" cy="205503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6" name="Shape 296"/>
        <p:cNvGrpSpPr/>
        <p:nvPr/>
      </p:nvGrpSpPr>
      <p:grpSpPr>
        <a:xfrm>
          <a:off x="0" y="0"/>
          <a:ext cx="0" cy="0"/>
          <a:chOff x="0" y="0"/>
          <a:chExt cx="0" cy="0"/>
        </a:xfrm>
      </p:grpSpPr>
      <p:sp>
        <p:nvSpPr>
          <p:cNvPr id="297" name="Google Shape;297;p40"/>
          <p:cNvSpPr txBox="1"/>
          <p:nvPr>
            <p:ph type="title"/>
          </p:nvPr>
        </p:nvSpPr>
        <p:spPr>
          <a:xfrm>
            <a:off x="628650" y="273850"/>
            <a:ext cx="3911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solidFill>
                  <a:srgbClr val="38761D"/>
                </a:solidFill>
              </a:rPr>
              <a:t>Good</a:t>
            </a:r>
            <a:r>
              <a:rPr lang="nl"/>
              <a:t> Abstractions</a:t>
            </a:r>
            <a:endParaRPr/>
          </a:p>
        </p:txBody>
      </p:sp>
      <p:sp>
        <p:nvSpPr>
          <p:cNvPr id="298" name="Google Shape;298;p40"/>
          <p:cNvSpPr txBox="1"/>
          <p:nvPr>
            <p:ph idx="1" type="body"/>
          </p:nvPr>
        </p:nvSpPr>
        <p:spPr>
          <a:xfrm>
            <a:off x="628650" y="1369225"/>
            <a:ext cx="3713700" cy="3263400"/>
          </a:xfrm>
          <a:prstGeom prst="rect">
            <a:avLst/>
          </a:prstGeom>
        </p:spPr>
        <p:txBody>
          <a:bodyPr anchorCtr="0" anchor="t" bIns="34275" lIns="68575" spcFirstLastPara="1" rIns="68575" wrap="square" tIns="34275">
            <a:normAutofit/>
          </a:bodyPr>
          <a:lstStyle/>
          <a:p>
            <a:pPr indent="0" lvl="0" marL="0" rtl="0" algn="l">
              <a:lnSpc>
                <a:spcPct val="100000"/>
              </a:lnSpc>
              <a:spcBef>
                <a:spcPts val="800"/>
              </a:spcBef>
              <a:spcAft>
                <a:spcPts val="0"/>
              </a:spcAft>
              <a:buNone/>
            </a:pPr>
            <a:r>
              <a:rPr lang="nl"/>
              <a:t>Represent the programmer’s intent</a:t>
            </a:r>
            <a:endParaRPr/>
          </a:p>
          <a:p>
            <a:pPr indent="0" lvl="0" marL="0" rtl="0" algn="l">
              <a:lnSpc>
                <a:spcPct val="100000"/>
              </a:lnSpc>
              <a:spcBef>
                <a:spcPts val="1200"/>
              </a:spcBef>
              <a:spcAft>
                <a:spcPts val="0"/>
              </a:spcAft>
              <a:buNone/>
            </a:pPr>
            <a:r>
              <a:rPr lang="nl"/>
              <a:t>Replace error-prone constructs</a:t>
            </a:r>
            <a:endParaRPr/>
          </a:p>
          <a:p>
            <a:pPr indent="0" lvl="0" marL="0" rtl="0" algn="l">
              <a:lnSpc>
                <a:spcPct val="100000"/>
              </a:lnSpc>
              <a:spcBef>
                <a:spcPts val="1200"/>
              </a:spcBef>
              <a:spcAft>
                <a:spcPts val="0"/>
              </a:spcAft>
              <a:buNone/>
            </a:pPr>
            <a:r>
              <a:rPr lang="nl"/>
              <a:t>Don’t get in the way</a:t>
            </a:r>
            <a:endParaRPr/>
          </a:p>
          <a:p>
            <a:pPr indent="0" lvl="0" marL="0" rtl="0" algn="l">
              <a:lnSpc>
                <a:spcPct val="100000"/>
              </a:lnSpc>
              <a:spcBef>
                <a:spcPts val="1200"/>
              </a:spcBef>
              <a:spcAft>
                <a:spcPts val="0"/>
              </a:spcAft>
              <a:buNone/>
            </a:pPr>
            <a:br>
              <a:rPr lang="nl"/>
            </a:br>
            <a:endParaRPr/>
          </a:p>
          <a:p>
            <a:pPr indent="0" lvl="0" marL="0" rtl="0" algn="l">
              <a:lnSpc>
                <a:spcPct val="100000"/>
              </a:lnSpc>
              <a:spcBef>
                <a:spcPts val="1200"/>
              </a:spcBef>
              <a:spcAft>
                <a:spcPts val="0"/>
              </a:spcAft>
              <a:buNone/>
            </a:pPr>
            <a:r>
              <a:rPr lang="nl"/>
              <a:t>⇒ Reduce Designer mental load</a:t>
            </a:r>
            <a:endParaRPr/>
          </a:p>
          <a:p>
            <a:pPr indent="0" lvl="0" marL="0" rtl="0" algn="l">
              <a:lnSpc>
                <a:spcPct val="100000"/>
              </a:lnSpc>
              <a:spcBef>
                <a:spcPts val="1200"/>
              </a:spcBef>
              <a:spcAft>
                <a:spcPts val="1200"/>
              </a:spcAft>
              <a:buNone/>
            </a:pPr>
            <a:r>
              <a:t/>
            </a:r>
            <a:endParaRPr/>
          </a:p>
        </p:txBody>
      </p:sp>
      <p:sp>
        <p:nvSpPr>
          <p:cNvPr id="299" name="Google Shape;299;p40"/>
          <p:cNvSpPr txBox="1"/>
          <p:nvPr>
            <p:ph type="title"/>
          </p:nvPr>
        </p:nvSpPr>
        <p:spPr>
          <a:xfrm>
            <a:off x="4572150" y="273850"/>
            <a:ext cx="39432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solidFill>
                  <a:srgbClr val="FF0000"/>
                </a:solidFill>
              </a:rPr>
              <a:t>Bad</a:t>
            </a:r>
            <a:r>
              <a:rPr lang="nl"/>
              <a:t> Abstractions</a:t>
            </a:r>
            <a:endParaRPr/>
          </a:p>
        </p:txBody>
      </p:sp>
      <p:sp>
        <p:nvSpPr>
          <p:cNvPr id="300" name="Google Shape;300;p40"/>
          <p:cNvSpPr txBox="1"/>
          <p:nvPr>
            <p:ph idx="1" type="body"/>
          </p:nvPr>
        </p:nvSpPr>
        <p:spPr>
          <a:xfrm>
            <a:off x="4572000" y="1369225"/>
            <a:ext cx="3943200" cy="3263400"/>
          </a:xfrm>
          <a:prstGeom prst="rect">
            <a:avLst/>
          </a:prstGeom>
        </p:spPr>
        <p:txBody>
          <a:bodyPr anchorCtr="0" anchor="t" bIns="34275" lIns="68575" spcFirstLastPara="1" rIns="68575" wrap="square" tIns="34275">
            <a:normAutofit/>
          </a:bodyPr>
          <a:lstStyle/>
          <a:p>
            <a:pPr indent="0" lvl="0" marL="0" rtl="0" algn="l">
              <a:lnSpc>
                <a:spcPct val="100000"/>
              </a:lnSpc>
              <a:spcBef>
                <a:spcPts val="800"/>
              </a:spcBef>
              <a:spcAft>
                <a:spcPts val="0"/>
              </a:spcAft>
              <a:buNone/>
            </a:pPr>
            <a:r>
              <a:rPr lang="nl"/>
              <a:t>Trade in design freedom</a:t>
            </a:r>
            <a:br>
              <a:rPr lang="nl"/>
            </a:br>
            <a:r>
              <a:rPr lang="nl"/>
              <a:t>for “abstraction”</a:t>
            </a:r>
            <a:endParaRPr/>
          </a:p>
          <a:p>
            <a:pPr indent="0" lvl="0" marL="0" rtl="0" algn="l">
              <a:lnSpc>
                <a:spcPct val="100000"/>
              </a:lnSpc>
              <a:spcBef>
                <a:spcPts val="1200"/>
              </a:spcBef>
              <a:spcAft>
                <a:spcPts val="0"/>
              </a:spcAft>
              <a:buNone/>
            </a:pPr>
            <a:r>
              <a:t/>
            </a:r>
            <a:endParaRPr/>
          </a:p>
          <a:p>
            <a:pPr indent="0" lvl="0" marL="0" rtl="0" algn="l">
              <a:lnSpc>
                <a:spcPct val="100000"/>
              </a:lnSpc>
              <a:spcBef>
                <a:spcPts val="1200"/>
              </a:spcBef>
              <a:spcAft>
                <a:spcPts val="0"/>
              </a:spcAft>
              <a:buNone/>
            </a:pPr>
            <a:r>
              <a:t/>
            </a:r>
            <a:endParaRPr/>
          </a:p>
          <a:p>
            <a:pPr indent="0" lvl="0" marL="0" rtl="0" algn="l">
              <a:lnSpc>
                <a:spcPct val="100000"/>
              </a:lnSpc>
              <a:spcBef>
                <a:spcPts val="1200"/>
              </a:spcBef>
              <a:spcAft>
                <a:spcPts val="0"/>
              </a:spcAft>
              <a:buNone/>
            </a:pPr>
            <a:r>
              <a:t/>
            </a:r>
            <a:endParaRPr/>
          </a:p>
          <a:p>
            <a:pPr indent="0" lvl="0" marL="0" rtl="0" algn="l">
              <a:lnSpc>
                <a:spcPct val="100000"/>
              </a:lnSpc>
              <a:spcBef>
                <a:spcPts val="1200"/>
              </a:spcBef>
              <a:spcAft>
                <a:spcPts val="1200"/>
              </a:spcAft>
              <a:buNone/>
            </a:pPr>
            <a:r>
              <a:rPr lang="nl"/>
              <a:t>⇒ Contort the Designer into the vendor’s paradigm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SUS Design Process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title"/>
          </p:nvPr>
        </p:nvSpPr>
        <p:spPr>
          <a:xfrm>
            <a:off x="0" y="3713400"/>
            <a:ext cx="3424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nl"/>
              <a:t>Control</a:t>
            </a:r>
            <a:endParaRPr/>
          </a:p>
        </p:txBody>
      </p:sp>
      <p:sp>
        <p:nvSpPr>
          <p:cNvPr id="311" name="Google Shape;311;p42"/>
          <p:cNvSpPr txBox="1"/>
          <p:nvPr>
            <p:ph type="title"/>
          </p:nvPr>
        </p:nvSpPr>
        <p:spPr>
          <a:xfrm>
            <a:off x="2859900" y="3713400"/>
            <a:ext cx="3424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nl"/>
              <a:t>Feedback</a:t>
            </a:r>
            <a:endParaRPr/>
          </a:p>
        </p:txBody>
      </p:sp>
      <p:sp>
        <p:nvSpPr>
          <p:cNvPr id="312" name="Google Shape;312;p42"/>
          <p:cNvSpPr txBox="1"/>
          <p:nvPr>
            <p:ph type="title"/>
          </p:nvPr>
        </p:nvSpPr>
        <p:spPr>
          <a:xfrm>
            <a:off x="5719800" y="3713400"/>
            <a:ext cx="3424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nl"/>
              <a:t>Pragmatism</a:t>
            </a:r>
            <a:endParaRPr/>
          </a:p>
        </p:txBody>
      </p:sp>
      <p:pic>
        <p:nvPicPr>
          <p:cNvPr id="313" name="Google Shape;313;p42"/>
          <p:cNvPicPr preferRelativeResize="0"/>
          <p:nvPr/>
        </p:nvPicPr>
        <p:blipFill>
          <a:blip r:embed="rId3">
            <a:alphaModFix/>
          </a:blip>
          <a:stretch>
            <a:fillRect/>
          </a:stretch>
        </p:blipFill>
        <p:spPr>
          <a:xfrm>
            <a:off x="450063" y="906100"/>
            <a:ext cx="2524076" cy="2524076"/>
          </a:xfrm>
          <a:prstGeom prst="rect">
            <a:avLst/>
          </a:prstGeom>
          <a:noFill/>
          <a:ln>
            <a:noFill/>
          </a:ln>
        </p:spPr>
      </p:pic>
      <p:pic>
        <p:nvPicPr>
          <p:cNvPr id="314" name="Google Shape;314;p42"/>
          <p:cNvPicPr preferRelativeResize="0"/>
          <p:nvPr/>
        </p:nvPicPr>
        <p:blipFill>
          <a:blip r:embed="rId4">
            <a:alphaModFix/>
          </a:blip>
          <a:stretch>
            <a:fillRect/>
          </a:stretch>
        </p:blipFill>
        <p:spPr>
          <a:xfrm>
            <a:off x="3309950" y="906100"/>
            <a:ext cx="2524076" cy="2524076"/>
          </a:xfrm>
          <a:prstGeom prst="rect">
            <a:avLst/>
          </a:prstGeom>
          <a:noFill/>
          <a:ln>
            <a:noFill/>
          </a:ln>
        </p:spPr>
      </p:pic>
      <p:pic>
        <p:nvPicPr>
          <p:cNvPr id="315" name="Google Shape;315;p42"/>
          <p:cNvPicPr preferRelativeResize="0"/>
          <p:nvPr/>
        </p:nvPicPr>
        <p:blipFill>
          <a:blip r:embed="rId5">
            <a:alphaModFix/>
          </a:blip>
          <a:stretch>
            <a:fillRect/>
          </a:stretch>
        </p:blipFill>
        <p:spPr>
          <a:xfrm>
            <a:off x="6169825" y="906100"/>
            <a:ext cx="2524076" cy="25240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Control</a:t>
            </a:r>
            <a:endParaRPr/>
          </a:p>
        </p:txBody>
      </p:sp>
      <p:sp>
        <p:nvSpPr>
          <p:cNvPr id="321" name="Google Shape;321;p43"/>
          <p:cNvSpPr txBox="1"/>
          <p:nvPr>
            <p:ph idx="1" type="body"/>
          </p:nvPr>
        </p:nvSpPr>
        <p:spPr>
          <a:xfrm>
            <a:off x="628650" y="1369225"/>
            <a:ext cx="33480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t>If I can draw it, I want to be able to write it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nl"/>
              <a:t>⇒ All synchronous hardware representable</a:t>
            </a:r>
            <a:endParaRPr/>
          </a:p>
          <a:p>
            <a:pPr indent="0" lvl="0" marL="0" rtl="0" algn="l">
              <a:spcBef>
                <a:spcPts val="1200"/>
              </a:spcBef>
              <a:spcAft>
                <a:spcPts val="1200"/>
              </a:spcAft>
              <a:buNone/>
            </a:pPr>
            <a:r>
              <a:t/>
            </a:r>
            <a:endParaRPr/>
          </a:p>
        </p:txBody>
      </p:sp>
      <p:pic>
        <p:nvPicPr>
          <p:cNvPr id="322" name="Google Shape;322;p43"/>
          <p:cNvPicPr preferRelativeResize="0"/>
          <p:nvPr/>
        </p:nvPicPr>
        <p:blipFill>
          <a:blip r:embed="rId3">
            <a:alphaModFix/>
          </a:blip>
          <a:stretch>
            <a:fillRect/>
          </a:stretch>
        </p:blipFill>
        <p:spPr>
          <a:xfrm>
            <a:off x="4465350" y="1066950"/>
            <a:ext cx="4136474" cy="3009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44"/>
          <p:cNvPicPr preferRelativeResize="0"/>
          <p:nvPr/>
        </p:nvPicPr>
        <p:blipFill>
          <a:blip r:embed="rId3">
            <a:alphaModFix/>
          </a:blip>
          <a:stretch>
            <a:fillRect/>
          </a:stretch>
        </p:blipFill>
        <p:spPr>
          <a:xfrm>
            <a:off x="3884525" y="1017625"/>
            <a:ext cx="5139351" cy="2626225"/>
          </a:xfrm>
          <a:prstGeom prst="rect">
            <a:avLst/>
          </a:prstGeom>
          <a:noFill/>
          <a:ln>
            <a:noFill/>
          </a:ln>
        </p:spPr>
      </p:pic>
      <p:sp>
        <p:nvSpPr>
          <p:cNvPr id="328" name="Google Shape;328;p4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Feedback</a:t>
            </a:r>
            <a:endParaRPr/>
          </a:p>
        </p:txBody>
      </p:sp>
      <p:sp>
        <p:nvSpPr>
          <p:cNvPr id="329" name="Google Shape;329;p4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t>LSP</a:t>
            </a:r>
            <a:endParaRPr sz="1600"/>
          </a:p>
          <a:p>
            <a:pPr indent="-330200" lvl="0" marL="457200" rtl="0" algn="l">
              <a:spcBef>
                <a:spcPts val="1200"/>
              </a:spcBef>
              <a:spcAft>
                <a:spcPts val="0"/>
              </a:spcAft>
              <a:buSzPts val="1600"/>
              <a:buChar char="-"/>
            </a:pPr>
            <a:r>
              <a:rPr lang="nl" sz="1600"/>
              <a:t>Errors &amp; Info</a:t>
            </a:r>
            <a:endParaRPr/>
          </a:p>
          <a:p>
            <a:pPr indent="-330200" lvl="0" marL="457200" rtl="0" algn="l">
              <a:spcBef>
                <a:spcPts val="0"/>
              </a:spcBef>
              <a:spcAft>
                <a:spcPts val="0"/>
              </a:spcAft>
              <a:buSzPts val="1600"/>
              <a:buChar char="-"/>
            </a:pPr>
            <a:r>
              <a:rPr lang="nl" sz="1600"/>
              <a:t>Navigation</a:t>
            </a:r>
            <a:endParaRPr sz="1600"/>
          </a:p>
          <a:p>
            <a:pPr indent="-330200" lvl="0" marL="457200" rtl="0" algn="l">
              <a:spcBef>
                <a:spcPts val="0"/>
              </a:spcBef>
              <a:spcAft>
                <a:spcPts val="0"/>
              </a:spcAft>
              <a:buSzPts val="1600"/>
              <a:buChar char="-"/>
            </a:pPr>
            <a:r>
              <a:rPr lang="nl" sz="1600"/>
              <a:t>Code Suggestions</a:t>
            </a:r>
            <a:endParaRPr sz="1600"/>
          </a:p>
          <a:p>
            <a:pPr indent="0" lvl="0" marL="0" rtl="0" algn="l">
              <a:spcBef>
                <a:spcPts val="1200"/>
              </a:spcBef>
              <a:spcAft>
                <a:spcPts val="0"/>
              </a:spcAft>
              <a:buNone/>
            </a:pPr>
            <a:r>
              <a:rPr lang="nl"/>
              <a:t>Instant In-Editor Feedback</a:t>
            </a:r>
            <a:endParaRPr/>
          </a:p>
          <a:p>
            <a:pPr indent="-330200" lvl="0" marL="457200" rtl="0" algn="l">
              <a:spcBef>
                <a:spcPts val="1200"/>
              </a:spcBef>
              <a:spcAft>
                <a:spcPts val="0"/>
              </a:spcAft>
              <a:buSzPts val="1600"/>
              <a:buChar char="-"/>
            </a:pPr>
            <a:r>
              <a:rPr lang="nl" sz="1600"/>
              <a:t>No separate Compile Step</a:t>
            </a:r>
            <a:endParaRPr sz="1600"/>
          </a:p>
          <a:p>
            <a:pPr indent="0" lvl="0" marL="0" rtl="0" algn="l">
              <a:spcBef>
                <a:spcPts val="1200"/>
              </a:spcBef>
              <a:spcAft>
                <a:spcPts val="1200"/>
              </a:spcAft>
              <a:buNone/>
            </a:pPr>
            <a:r>
              <a:t/>
            </a:r>
            <a:endParaRPr sz="1600"/>
          </a:p>
        </p:txBody>
      </p:sp>
      <p:pic>
        <p:nvPicPr>
          <p:cNvPr id="330" name="Google Shape;330;p44"/>
          <p:cNvPicPr preferRelativeResize="0"/>
          <p:nvPr/>
        </p:nvPicPr>
        <p:blipFill>
          <a:blip r:embed="rId4">
            <a:alphaModFix/>
          </a:blip>
          <a:stretch>
            <a:fillRect/>
          </a:stretch>
        </p:blipFill>
        <p:spPr>
          <a:xfrm>
            <a:off x="1143000" y="3383825"/>
            <a:ext cx="1675075" cy="1675075"/>
          </a:xfrm>
          <a:prstGeom prst="rect">
            <a:avLst/>
          </a:prstGeom>
          <a:noFill/>
          <a:ln>
            <a:noFill/>
          </a:ln>
        </p:spPr>
      </p:pic>
      <p:pic>
        <p:nvPicPr>
          <p:cNvPr id="331" name="Google Shape;331;p44"/>
          <p:cNvPicPr preferRelativeResize="0"/>
          <p:nvPr/>
        </p:nvPicPr>
        <p:blipFill>
          <a:blip r:embed="rId5">
            <a:alphaModFix/>
          </a:blip>
          <a:stretch>
            <a:fillRect/>
          </a:stretch>
        </p:blipFill>
        <p:spPr>
          <a:xfrm>
            <a:off x="3884525" y="3291475"/>
            <a:ext cx="5139349" cy="150040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Pragmatism</a:t>
            </a:r>
            <a:endParaRPr/>
          </a:p>
        </p:txBody>
      </p:sp>
      <p:sp>
        <p:nvSpPr>
          <p:cNvPr id="337" name="Google Shape;337;p4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t>Let hardware be hardware</a:t>
            </a:r>
            <a:endParaRPr/>
          </a:p>
          <a:p>
            <a:pPr indent="0" lvl="0" marL="0" rtl="0" algn="l">
              <a:spcBef>
                <a:spcPts val="1200"/>
              </a:spcBef>
              <a:spcAft>
                <a:spcPts val="0"/>
              </a:spcAft>
              <a:buNone/>
            </a:pPr>
            <a:r>
              <a:rPr lang="nl"/>
              <a:t>Simple things should be simple</a:t>
            </a:r>
            <a:endParaRPr/>
          </a:p>
          <a:p>
            <a:pPr indent="0" lvl="0" marL="0" rtl="0" algn="l">
              <a:spcBef>
                <a:spcPts val="1200"/>
              </a:spcBef>
              <a:spcAft>
                <a:spcPts val="0"/>
              </a:spcAft>
              <a:buNone/>
            </a:pPr>
            <a:r>
              <a:rPr lang="nl"/>
              <a:t>Infer where possible</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Pragmatism</a:t>
            </a:r>
            <a:endParaRPr/>
          </a:p>
        </p:txBody>
      </p:sp>
      <p:sp>
        <p:nvSpPr>
          <p:cNvPr id="343" name="Google Shape;343;p4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t>Let hardware be hardware</a:t>
            </a:r>
            <a:endParaRPr/>
          </a:p>
          <a:p>
            <a:pPr indent="0" lvl="0" marL="0" rtl="0" algn="l">
              <a:spcBef>
                <a:spcPts val="1200"/>
              </a:spcBef>
              <a:spcAft>
                <a:spcPts val="0"/>
              </a:spcAft>
              <a:buNone/>
            </a:pPr>
            <a:r>
              <a:rPr lang="nl"/>
              <a:t>Simple things should be simple</a:t>
            </a:r>
            <a:endParaRPr/>
          </a:p>
          <a:p>
            <a:pPr indent="0" lvl="0" marL="0" rtl="0" algn="l">
              <a:spcBef>
                <a:spcPts val="1200"/>
              </a:spcBef>
              <a:spcAft>
                <a:spcPts val="0"/>
              </a:spcAft>
              <a:buNone/>
            </a:pPr>
            <a:r>
              <a:rPr lang="nl"/>
              <a:t>Infer where </a:t>
            </a:r>
            <a:r>
              <a:rPr lang="nl" strike="sngStrike"/>
              <a:t>possible</a:t>
            </a:r>
            <a:r>
              <a:rPr lang="nl"/>
              <a:t> beneficial</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Examples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XOR gate</a:t>
            </a:r>
            <a:endParaRPr/>
          </a:p>
        </p:txBody>
      </p:sp>
      <p:sp>
        <p:nvSpPr>
          <p:cNvPr id="354" name="Google Shape;354;p4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355" name="Google Shape;355;p48"/>
          <p:cNvPicPr preferRelativeResize="0"/>
          <p:nvPr/>
        </p:nvPicPr>
        <p:blipFill>
          <a:blip r:embed="rId3">
            <a:alphaModFix/>
          </a:blip>
          <a:stretch>
            <a:fillRect/>
          </a:stretch>
        </p:blipFill>
        <p:spPr>
          <a:xfrm>
            <a:off x="1009650" y="1369213"/>
            <a:ext cx="7124700" cy="35528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Generative Code</a:t>
            </a:r>
            <a:endParaRPr/>
          </a:p>
        </p:txBody>
      </p:sp>
      <p:sp>
        <p:nvSpPr>
          <p:cNvPr id="361" name="Google Shape;361;p4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362" name="Google Shape;362;p49"/>
          <p:cNvPicPr preferRelativeResize="0"/>
          <p:nvPr/>
        </p:nvPicPr>
        <p:blipFill>
          <a:blip r:embed="rId3">
            <a:alphaModFix/>
          </a:blip>
          <a:stretch>
            <a:fillRect/>
          </a:stretch>
        </p:blipFill>
        <p:spPr>
          <a:xfrm>
            <a:off x="619125" y="1200700"/>
            <a:ext cx="7905750" cy="36004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FizzBuzz</a:t>
            </a:r>
            <a:endParaRPr/>
          </a:p>
        </p:txBody>
      </p:sp>
      <p:sp>
        <p:nvSpPr>
          <p:cNvPr id="368" name="Google Shape;368;p5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369" name="Google Shape;369;p50"/>
          <p:cNvPicPr preferRelativeResize="0"/>
          <p:nvPr/>
        </p:nvPicPr>
        <p:blipFill>
          <a:blip r:embed="rId3">
            <a:alphaModFix/>
          </a:blip>
          <a:stretch>
            <a:fillRect/>
          </a:stretch>
        </p:blipFill>
        <p:spPr>
          <a:xfrm>
            <a:off x="2714100" y="511538"/>
            <a:ext cx="3715800" cy="41204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Generative FizzBuzz</a:t>
            </a:r>
            <a:endParaRPr/>
          </a:p>
        </p:txBody>
      </p:sp>
      <p:sp>
        <p:nvSpPr>
          <p:cNvPr id="375" name="Google Shape;375;p5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376" name="Google Shape;376;p51"/>
          <p:cNvPicPr preferRelativeResize="0"/>
          <p:nvPr/>
        </p:nvPicPr>
        <p:blipFill>
          <a:blip r:embed="rId3">
            <a:alphaModFix/>
          </a:blip>
          <a:stretch>
            <a:fillRect/>
          </a:stretch>
        </p:blipFill>
        <p:spPr>
          <a:xfrm>
            <a:off x="4572000" y="221025"/>
            <a:ext cx="3039874" cy="47014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382" name="Google Shape;382;p52"/>
          <p:cNvPicPr preferRelativeResize="0"/>
          <p:nvPr/>
        </p:nvPicPr>
        <p:blipFill>
          <a:blip r:embed="rId3">
            <a:alphaModFix/>
          </a:blip>
          <a:stretch>
            <a:fillRect/>
          </a:stretch>
        </p:blipFill>
        <p:spPr>
          <a:xfrm>
            <a:off x="955500" y="221025"/>
            <a:ext cx="3039874" cy="4701475"/>
          </a:xfrm>
          <a:prstGeom prst="rect">
            <a:avLst/>
          </a:prstGeom>
          <a:noFill/>
          <a:ln>
            <a:noFill/>
          </a:ln>
        </p:spPr>
      </p:pic>
      <p:grpSp>
        <p:nvGrpSpPr>
          <p:cNvPr id="383" name="Google Shape;383;p52"/>
          <p:cNvGrpSpPr/>
          <p:nvPr/>
        </p:nvGrpSpPr>
        <p:grpSpPr>
          <a:xfrm>
            <a:off x="3048000" y="363775"/>
            <a:ext cx="5702650" cy="1394562"/>
            <a:chOff x="3048000" y="363775"/>
            <a:chExt cx="5702650" cy="1394562"/>
          </a:xfrm>
        </p:grpSpPr>
        <p:pic>
          <p:nvPicPr>
            <p:cNvPr id="384" name="Google Shape;384;p52"/>
            <p:cNvPicPr preferRelativeResize="0"/>
            <p:nvPr/>
          </p:nvPicPr>
          <p:blipFill rotWithShape="1">
            <a:blip r:embed="rId3">
              <a:alphaModFix/>
            </a:blip>
            <a:srcRect b="73499" l="9455" r="27922" t="14192"/>
            <a:stretch/>
          </p:blipFill>
          <p:spPr>
            <a:xfrm>
              <a:off x="4162875" y="363775"/>
              <a:ext cx="4587775" cy="1394562"/>
            </a:xfrm>
            <a:prstGeom prst="rect">
              <a:avLst/>
            </a:prstGeom>
            <a:noFill/>
            <a:ln>
              <a:noFill/>
            </a:ln>
          </p:spPr>
        </p:pic>
        <p:cxnSp>
          <p:nvCxnSpPr>
            <p:cNvPr id="385" name="Google Shape;385;p52"/>
            <p:cNvCxnSpPr/>
            <p:nvPr/>
          </p:nvCxnSpPr>
          <p:spPr>
            <a:xfrm flipH="1" rot="10800000">
              <a:off x="3093675" y="484875"/>
              <a:ext cx="1088700" cy="411000"/>
            </a:xfrm>
            <a:prstGeom prst="straightConnector1">
              <a:avLst/>
            </a:prstGeom>
            <a:noFill/>
            <a:ln cap="flat" cmpd="sng" w="28575">
              <a:solidFill>
                <a:srgbClr val="FF0000"/>
              </a:solidFill>
              <a:prstDash val="solid"/>
              <a:round/>
              <a:headEnd len="med" w="med" type="none"/>
              <a:tailEnd len="med" w="med" type="none"/>
            </a:ln>
          </p:spPr>
        </p:cxnSp>
        <p:cxnSp>
          <p:nvCxnSpPr>
            <p:cNvPr id="386" name="Google Shape;386;p52"/>
            <p:cNvCxnSpPr/>
            <p:nvPr/>
          </p:nvCxnSpPr>
          <p:spPr>
            <a:xfrm>
              <a:off x="3048000" y="1474500"/>
              <a:ext cx="1218000" cy="152100"/>
            </a:xfrm>
            <a:prstGeom prst="straightConnector1">
              <a:avLst/>
            </a:prstGeom>
            <a:noFill/>
            <a:ln cap="flat" cmpd="sng" w="28575">
              <a:solidFill>
                <a:srgbClr val="FF0000"/>
              </a:solidFill>
              <a:prstDash val="solid"/>
              <a:round/>
              <a:headEnd len="med" w="med" type="none"/>
              <a:tailEnd len="med" w="med" type="none"/>
            </a:ln>
          </p:spPr>
        </p:cxnSp>
      </p:grpSp>
      <p:pic>
        <p:nvPicPr>
          <p:cNvPr id="387" name="Google Shape;387;p52"/>
          <p:cNvPicPr preferRelativeResize="0"/>
          <p:nvPr/>
        </p:nvPicPr>
        <p:blipFill>
          <a:blip r:embed="rId4">
            <a:alphaModFix/>
          </a:blip>
          <a:stretch>
            <a:fillRect/>
          </a:stretch>
        </p:blipFill>
        <p:spPr>
          <a:xfrm>
            <a:off x="3093675" y="3518725"/>
            <a:ext cx="5481825" cy="1016463"/>
          </a:xfrm>
          <a:prstGeom prst="rect">
            <a:avLst/>
          </a:prstGeom>
          <a:noFill/>
          <a:ln>
            <a:noFill/>
          </a:ln>
        </p:spPr>
      </p:pic>
      <p:grpSp>
        <p:nvGrpSpPr>
          <p:cNvPr id="388" name="Google Shape;388;p52"/>
          <p:cNvGrpSpPr/>
          <p:nvPr/>
        </p:nvGrpSpPr>
        <p:grpSpPr>
          <a:xfrm>
            <a:off x="5336925" y="1626575"/>
            <a:ext cx="2327700" cy="863950"/>
            <a:chOff x="5336925" y="1626575"/>
            <a:chExt cx="2327700" cy="863950"/>
          </a:xfrm>
        </p:grpSpPr>
        <p:cxnSp>
          <p:nvCxnSpPr>
            <p:cNvPr id="389" name="Google Shape;389;p52"/>
            <p:cNvCxnSpPr/>
            <p:nvPr/>
          </p:nvCxnSpPr>
          <p:spPr>
            <a:xfrm>
              <a:off x="5643175" y="1626600"/>
              <a:ext cx="1922700" cy="0"/>
            </a:xfrm>
            <a:prstGeom prst="straightConnector1">
              <a:avLst/>
            </a:prstGeom>
            <a:noFill/>
            <a:ln cap="flat" cmpd="sng" w="28575">
              <a:solidFill>
                <a:srgbClr val="FF0000"/>
              </a:solidFill>
              <a:prstDash val="solid"/>
              <a:round/>
              <a:headEnd len="med" w="med" type="none"/>
              <a:tailEnd len="med" w="med" type="none"/>
            </a:ln>
          </p:spPr>
        </p:cxnSp>
        <p:cxnSp>
          <p:nvCxnSpPr>
            <p:cNvPr id="390" name="Google Shape;390;p52"/>
            <p:cNvCxnSpPr/>
            <p:nvPr/>
          </p:nvCxnSpPr>
          <p:spPr>
            <a:xfrm flipH="1">
              <a:off x="6457800" y="1626575"/>
              <a:ext cx="165000" cy="362700"/>
            </a:xfrm>
            <a:prstGeom prst="straightConnector1">
              <a:avLst/>
            </a:prstGeom>
            <a:noFill/>
            <a:ln cap="flat" cmpd="sng" w="28575">
              <a:solidFill>
                <a:srgbClr val="FF0000"/>
              </a:solidFill>
              <a:prstDash val="solid"/>
              <a:round/>
              <a:headEnd len="med" w="med" type="none"/>
              <a:tailEnd len="med" w="med" type="none"/>
            </a:ln>
          </p:spPr>
        </p:cxnSp>
        <p:sp>
          <p:nvSpPr>
            <p:cNvPr id="391" name="Google Shape;391;p52"/>
            <p:cNvSpPr txBox="1"/>
            <p:nvPr/>
          </p:nvSpPr>
          <p:spPr>
            <a:xfrm>
              <a:off x="5336925" y="2028825"/>
              <a:ext cx="232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800">
                  <a:solidFill>
                    <a:srgbClr val="FF0000"/>
                  </a:solidFill>
                </a:rPr>
                <a:t>Dependent Types!</a:t>
              </a:r>
              <a:endParaRPr b="1" sz="1800">
                <a:solidFill>
                  <a:srgbClr val="FF0000"/>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Typing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id="401" name="Google Shape;401;p54"/>
          <p:cNvPicPr preferRelativeResize="0"/>
          <p:nvPr/>
        </p:nvPicPr>
        <p:blipFill>
          <a:blip r:embed="rId3">
            <a:alphaModFix/>
          </a:blip>
          <a:stretch>
            <a:fillRect/>
          </a:stretch>
        </p:blipFill>
        <p:spPr>
          <a:xfrm>
            <a:off x="7847129" y="2087275"/>
            <a:ext cx="1109650" cy="1490576"/>
          </a:xfrm>
          <a:prstGeom prst="rect">
            <a:avLst/>
          </a:prstGeom>
          <a:noFill/>
          <a:ln>
            <a:noFill/>
          </a:ln>
        </p:spPr>
      </p:pic>
      <p:pic>
        <p:nvPicPr>
          <p:cNvPr id="402" name="Google Shape;402;p54"/>
          <p:cNvPicPr preferRelativeResize="0"/>
          <p:nvPr/>
        </p:nvPicPr>
        <p:blipFill rotWithShape="1">
          <a:blip r:embed="rId4">
            <a:alphaModFix/>
          </a:blip>
          <a:srcRect b="33849" l="0" r="0" t="0"/>
          <a:stretch/>
        </p:blipFill>
        <p:spPr>
          <a:xfrm>
            <a:off x="2172300" y="1134577"/>
            <a:ext cx="5343451" cy="3126527"/>
          </a:xfrm>
          <a:prstGeom prst="rect">
            <a:avLst/>
          </a:prstGeom>
          <a:noFill/>
          <a:ln>
            <a:noFill/>
          </a:ln>
        </p:spPr>
      </p:pic>
      <p:sp>
        <p:nvSpPr>
          <p:cNvPr id="403" name="Google Shape;403;p5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Dependent Types are a nightmare to work with</a:t>
            </a:r>
            <a:endParaRPr/>
          </a:p>
        </p:txBody>
      </p:sp>
      <p:pic>
        <p:nvPicPr>
          <p:cNvPr id="404" name="Google Shape;404;p54"/>
          <p:cNvPicPr preferRelativeResize="0"/>
          <p:nvPr/>
        </p:nvPicPr>
        <p:blipFill>
          <a:blip r:embed="rId5">
            <a:alphaModFix/>
          </a:blip>
          <a:stretch>
            <a:fillRect/>
          </a:stretch>
        </p:blipFill>
        <p:spPr>
          <a:xfrm rot="-424113">
            <a:off x="174000" y="2761765"/>
            <a:ext cx="4493329" cy="2454545"/>
          </a:xfrm>
          <a:prstGeom prst="rect">
            <a:avLst/>
          </a:prstGeom>
          <a:noFill/>
          <a:ln>
            <a:noFill/>
          </a:ln>
        </p:spPr>
      </p:pic>
      <p:pic>
        <p:nvPicPr>
          <p:cNvPr id="405" name="Google Shape;405;p54"/>
          <p:cNvPicPr preferRelativeResize="0"/>
          <p:nvPr/>
        </p:nvPicPr>
        <p:blipFill>
          <a:blip r:embed="rId6">
            <a:alphaModFix/>
          </a:blip>
          <a:stretch>
            <a:fillRect/>
          </a:stretch>
        </p:blipFill>
        <p:spPr>
          <a:xfrm rot="734695">
            <a:off x="4594717" y="2596322"/>
            <a:ext cx="4382516" cy="386480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What is the SUS-lution?</a:t>
            </a:r>
            <a:endParaRPr/>
          </a:p>
        </p:txBody>
      </p:sp>
      <p:sp>
        <p:nvSpPr>
          <p:cNvPr id="411" name="Google Shape;411;p55"/>
          <p:cNvSpPr txBox="1"/>
          <p:nvPr>
            <p:ph idx="1" type="body"/>
          </p:nvPr>
        </p:nvSpPr>
        <p:spPr>
          <a:xfrm>
            <a:off x="628650" y="1369225"/>
            <a:ext cx="8283900" cy="32634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lang="nl"/>
              <a:t>Want simple type checking</a:t>
            </a:r>
            <a:r>
              <a:rPr lang="nl"/>
              <a:t> → use dynamic typing?</a:t>
            </a:r>
            <a:endParaRPr/>
          </a:p>
          <a:p>
            <a:pPr indent="0" lvl="0" marL="0" rtl="0" algn="l">
              <a:lnSpc>
                <a:spcPct val="115000"/>
              </a:lnSpc>
              <a:spcBef>
                <a:spcPts val="1200"/>
              </a:spcBef>
              <a:spcAft>
                <a:spcPts val="0"/>
              </a:spcAft>
              <a:buNone/>
            </a:pPr>
            <a:r>
              <a:t/>
            </a:r>
            <a:endParaRPr/>
          </a:p>
          <a:p>
            <a:pPr indent="-317500" lvl="0" marL="457200" rtl="0" algn="l">
              <a:lnSpc>
                <a:spcPct val="115000"/>
              </a:lnSpc>
              <a:spcBef>
                <a:spcPts val="1200"/>
              </a:spcBef>
              <a:spcAft>
                <a:spcPts val="0"/>
              </a:spcAft>
              <a:buSzPts val="1400"/>
              <a:buChar char="-"/>
            </a:pPr>
            <a:r>
              <a:rPr lang="nl"/>
              <a:t>W</a:t>
            </a:r>
            <a:r>
              <a:rPr lang="nl"/>
              <a:t>ant to use type info to hint user at template level → traits &amp; types?</a:t>
            </a:r>
            <a:endParaRPr/>
          </a:p>
        </p:txBody>
      </p:sp>
      <p:sp>
        <p:nvSpPr>
          <p:cNvPr id="412" name="Google Shape;412;p55"/>
          <p:cNvSpPr txBox="1"/>
          <p:nvPr>
            <p:ph idx="1" type="body"/>
          </p:nvPr>
        </p:nvSpPr>
        <p:spPr>
          <a:xfrm>
            <a:off x="733350" y="1701266"/>
            <a:ext cx="7886700" cy="532500"/>
          </a:xfrm>
          <a:prstGeom prst="rect">
            <a:avLst/>
          </a:prstGeom>
        </p:spPr>
        <p:txBody>
          <a:bodyPr anchorCtr="0" anchor="t" bIns="34275" lIns="68575" spcFirstLastPara="1" rIns="68575" wrap="square" tIns="34275">
            <a:spAutoFit/>
          </a:bodyPr>
          <a:lstStyle/>
          <a:p>
            <a:pPr indent="-317500" lvl="1" marL="914400" rtl="0" algn="l">
              <a:lnSpc>
                <a:spcPct val="115000"/>
              </a:lnSpc>
              <a:spcBef>
                <a:spcPts val="400"/>
              </a:spcBef>
              <a:spcAft>
                <a:spcPts val="0"/>
              </a:spcAft>
              <a:buSzPts val="1400"/>
              <a:buChar char="-"/>
            </a:pPr>
            <a:r>
              <a:rPr lang="nl"/>
              <a:t>But do we really need to statically prove </a:t>
            </a:r>
            <a:r>
              <a:rPr i="1" lang="nl"/>
              <a:t>all</a:t>
            </a:r>
            <a:r>
              <a:rPr lang="nl"/>
              <a:t> parametrizations of a module are “correct”?</a:t>
            </a:r>
            <a:endParaRPr/>
          </a:p>
          <a:p>
            <a:pPr indent="-317500" lvl="1" marL="914400" rtl="0" algn="l">
              <a:lnSpc>
                <a:spcPct val="115000"/>
              </a:lnSpc>
              <a:spcBef>
                <a:spcPts val="0"/>
              </a:spcBef>
              <a:spcAft>
                <a:spcPts val="0"/>
              </a:spcAft>
              <a:buSzPts val="1400"/>
              <a:buChar char="-"/>
            </a:pPr>
            <a:r>
              <a:rPr lang="nl"/>
              <a:t>Or can we simply check each instance?</a:t>
            </a:r>
            <a:endParaRPr/>
          </a:p>
        </p:txBody>
      </p:sp>
      <p:sp>
        <p:nvSpPr>
          <p:cNvPr id="413" name="Google Shape;413;p55"/>
          <p:cNvSpPr txBox="1"/>
          <p:nvPr>
            <p:ph idx="1" type="body"/>
          </p:nvPr>
        </p:nvSpPr>
        <p:spPr>
          <a:xfrm>
            <a:off x="733350" y="2644866"/>
            <a:ext cx="7886700" cy="284700"/>
          </a:xfrm>
          <a:prstGeom prst="rect">
            <a:avLst/>
          </a:prstGeom>
        </p:spPr>
        <p:txBody>
          <a:bodyPr anchorCtr="0" anchor="t" bIns="34275" lIns="68575" spcFirstLastPara="1" rIns="68575" wrap="square" tIns="34275">
            <a:spAutoFit/>
          </a:bodyPr>
          <a:lstStyle/>
          <a:p>
            <a:pPr indent="-317500" lvl="1" marL="914400" rtl="0" algn="l">
              <a:lnSpc>
                <a:spcPct val="115000"/>
              </a:lnSpc>
              <a:spcBef>
                <a:spcPts val="400"/>
              </a:spcBef>
              <a:spcAft>
                <a:spcPts val="0"/>
              </a:spcAft>
              <a:buSzPts val="1400"/>
              <a:buChar char="-"/>
            </a:pPr>
            <a:r>
              <a:rPr lang="nl"/>
              <a:t>Does this info need to care about array sizes?</a:t>
            </a:r>
            <a:endParaRPr/>
          </a:p>
        </p:txBody>
      </p:sp>
      <p:sp>
        <p:nvSpPr>
          <p:cNvPr id="414" name="Google Shape;414;p55"/>
          <p:cNvSpPr txBox="1"/>
          <p:nvPr/>
        </p:nvSpPr>
        <p:spPr>
          <a:xfrm>
            <a:off x="1694675" y="3576375"/>
            <a:ext cx="48969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 sz="2600">
                <a:solidFill>
                  <a:schemeClr val="dk2"/>
                </a:solidFill>
              </a:rPr>
              <a:t>⇒ Two typing levels!</a:t>
            </a:r>
            <a:endParaRPr sz="26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6"/>
          <p:cNvSpPr txBox="1"/>
          <p:nvPr>
            <p:ph type="title"/>
          </p:nvPr>
        </p:nvSpPr>
        <p:spPr>
          <a:xfrm>
            <a:off x="628650" y="1035850"/>
            <a:ext cx="39432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Abstract Type</a:t>
            </a:r>
            <a:endParaRPr/>
          </a:p>
        </p:txBody>
      </p:sp>
      <p:sp>
        <p:nvSpPr>
          <p:cNvPr id="420" name="Google Shape;420;p56"/>
          <p:cNvSpPr txBox="1"/>
          <p:nvPr>
            <p:ph idx="1" type="body"/>
          </p:nvPr>
        </p:nvSpPr>
        <p:spPr>
          <a:xfrm>
            <a:off x="628650" y="2121675"/>
            <a:ext cx="3943200" cy="25110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latin typeface="Courier New"/>
                <a:ea typeface="Courier New"/>
                <a:cs typeface="Courier New"/>
                <a:sym typeface="Courier New"/>
              </a:rPr>
              <a:t>int[]</a:t>
            </a:r>
            <a:endParaRPr>
              <a:latin typeface="Courier New"/>
              <a:ea typeface="Courier New"/>
              <a:cs typeface="Courier New"/>
              <a:sym typeface="Courier New"/>
            </a:endParaRPr>
          </a:p>
          <a:p>
            <a:pPr indent="0" lvl="0" marL="0" rtl="0" algn="l">
              <a:spcBef>
                <a:spcPts val="1200"/>
              </a:spcBef>
              <a:spcAft>
                <a:spcPts val="0"/>
              </a:spcAft>
              <a:buNone/>
            </a:pPr>
            <a:r>
              <a:t/>
            </a:r>
            <a:endParaRPr>
              <a:latin typeface="Courier New"/>
              <a:ea typeface="Courier New"/>
              <a:cs typeface="Courier New"/>
              <a:sym typeface="Courier New"/>
            </a:endParaRPr>
          </a:p>
          <a:p>
            <a:pPr indent="0" lvl="0" marL="0" rtl="0" algn="l">
              <a:spcBef>
                <a:spcPts val="1200"/>
              </a:spcBef>
              <a:spcAft>
                <a:spcPts val="0"/>
              </a:spcAft>
              <a:buNone/>
            </a:pPr>
            <a:r>
              <a:rPr lang="nl"/>
              <a:t>Typecheck at Flattening time</a:t>
            </a:r>
            <a:endParaRPr/>
          </a:p>
          <a:p>
            <a:pPr indent="0" lvl="0" marL="0" rtl="0" algn="l">
              <a:spcBef>
                <a:spcPts val="1200"/>
              </a:spcBef>
              <a:spcAft>
                <a:spcPts val="0"/>
              </a:spcAft>
              <a:buNone/>
            </a:pPr>
            <a:r>
              <a:rPr lang="nl"/>
              <a:t>Only type names and structure</a:t>
            </a:r>
            <a:endParaRPr/>
          </a:p>
          <a:p>
            <a:pPr indent="0" lvl="0" marL="0" rtl="0" algn="l">
              <a:spcBef>
                <a:spcPts val="1200"/>
              </a:spcBef>
              <a:spcAft>
                <a:spcPts val="1200"/>
              </a:spcAft>
              <a:buNone/>
            </a:pPr>
            <a:r>
              <a:rPr lang="nl"/>
              <a:t>LSP Info &amp; Template checking</a:t>
            </a:r>
            <a:endParaRPr/>
          </a:p>
        </p:txBody>
      </p:sp>
      <p:sp>
        <p:nvSpPr>
          <p:cNvPr id="421" name="Google Shape;421;p56"/>
          <p:cNvSpPr txBox="1"/>
          <p:nvPr>
            <p:ph type="title"/>
          </p:nvPr>
        </p:nvSpPr>
        <p:spPr>
          <a:xfrm>
            <a:off x="4694450" y="1035861"/>
            <a:ext cx="39432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Concrete </a:t>
            </a:r>
            <a:r>
              <a:rPr lang="nl"/>
              <a:t>Type</a:t>
            </a:r>
            <a:endParaRPr/>
          </a:p>
        </p:txBody>
      </p:sp>
      <p:pic>
        <p:nvPicPr>
          <p:cNvPr id="422" name="Google Shape;422;p56"/>
          <p:cNvPicPr preferRelativeResize="0"/>
          <p:nvPr/>
        </p:nvPicPr>
        <p:blipFill rotWithShape="1">
          <a:blip r:embed="rId3">
            <a:alphaModFix/>
          </a:blip>
          <a:srcRect b="73165" l="0" r="0" t="19579"/>
          <a:stretch/>
        </p:blipFill>
        <p:spPr>
          <a:xfrm>
            <a:off x="0" y="373200"/>
            <a:ext cx="5906001" cy="662649"/>
          </a:xfrm>
          <a:prstGeom prst="rect">
            <a:avLst/>
          </a:prstGeom>
          <a:noFill/>
          <a:ln>
            <a:noFill/>
          </a:ln>
        </p:spPr>
      </p:pic>
      <p:sp>
        <p:nvSpPr>
          <p:cNvPr id="423" name="Google Shape;423;p56"/>
          <p:cNvSpPr txBox="1"/>
          <p:nvPr>
            <p:ph idx="1" type="body"/>
          </p:nvPr>
        </p:nvSpPr>
        <p:spPr>
          <a:xfrm>
            <a:off x="4571850" y="2121675"/>
            <a:ext cx="3943200" cy="25110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latin typeface="Courier New"/>
                <a:ea typeface="Courier New"/>
                <a:cs typeface="Courier New"/>
                <a:sym typeface="Courier New"/>
              </a:rPr>
              <a:t>int[256]</a:t>
            </a:r>
            <a:endParaRPr>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t/>
            </a:r>
            <a:endParaRPr>
              <a:latin typeface="Courier New"/>
              <a:ea typeface="Courier New"/>
              <a:cs typeface="Courier New"/>
              <a:sym typeface="Courier New"/>
            </a:endParaRPr>
          </a:p>
          <a:p>
            <a:pPr indent="0" lvl="0" marL="0" rtl="0" algn="l">
              <a:spcBef>
                <a:spcPts val="1200"/>
              </a:spcBef>
              <a:spcAft>
                <a:spcPts val="0"/>
              </a:spcAft>
              <a:buNone/>
            </a:pPr>
            <a:r>
              <a:rPr lang="nl"/>
              <a:t>Typecheck at Instantiation time</a:t>
            </a:r>
            <a:endParaRPr/>
          </a:p>
          <a:p>
            <a:pPr indent="0" lvl="0" marL="0" rtl="0" algn="l">
              <a:spcBef>
                <a:spcPts val="1200"/>
              </a:spcBef>
              <a:spcAft>
                <a:spcPts val="0"/>
              </a:spcAft>
              <a:buNone/>
            </a:pPr>
            <a:r>
              <a:rPr lang="nl"/>
              <a:t>Type names and concrete values</a:t>
            </a:r>
            <a:endParaRPr/>
          </a:p>
          <a:p>
            <a:pPr indent="0" lvl="0" marL="0" rtl="0" algn="l">
              <a:spcBef>
                <a:spcPts val="1200"/>
              </a:spcBef>
              <a:spcAft>
                <a:spcPts val="1200"/>
              </a:spcAft>
              <a:buNone/>
            </a:pPr>
            <a:r>
              <a:rPr lang="nl"/>
              <a:t>Actually define wires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Latency Counting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Registers</a:t>
            </a:r>
            <a:endParaRPr/>
          </a:p>
        </p:txBody>
      </p:sp>
      <p:pic>
        <p:nvPicPr>
          <p:cNvPr id="434" name="Google Shape;434;p58"/>
          <p:cNvPicPr preferRelativeResize="0"/>
          <p:nvPr/>
        </p:nvPicPr>
        <p:blipFill>
          <a:blip r:embed="rId3">
            <a:alphaModFix/>
          </a:blip>
          <a:stretch>
            <a:fillRect/>
          </a:stretch>
        </p:blipFill>
        <p:spPr>
          <a:xfrm>
            <a:off x="5308000" y="1697975"/>
            <a:ext cx="2286000" cy="3086100"/>
          </a:xfrm>
          <a:prstGeom prst="rect">
            <a:avLst/>
          </a:prstGeom>
          <a:noFill/>
          <a:ln>
            <a:noFill/>
          </a:ln>
        </p:spPr>
      </p:pic>
      <p:pic>
        <p:nvPicPr>
          <p:cNvPr id="435" name="Google Shape;435;p58"/>
          <p:cNvPicPr preferRelativeResize="0"/>
          <p:nvPr/>
        </p:nvPicPr>
        <p:blipFill>
          <a:blip r:embed="rId4">
            <a:alphaModFix/>
          </a:blip>
          <a:stretch>
            <a:fillRect/>
          </a:stretch>
        </p:blipFill>
        <p:spPr>
          <a:xfrm>
            <a:off x="1711025" y="1697975"/>
            <a:ext cx="2286000" cy="3086100"/>
          </a:xfrm>
          <a:prstGeom prst="rect">
            <a:avLst/>
          </a:prstGeom>
          <a:noFill/>
          <a:ln>
            <a:noFill/>
          </a:ln>
        </p:spPr>
      </p:pic>
      <p:sp>
        <p:nvSpPr>
          <p:cNvPr id="436" name="Google Shape;436;p5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State registers</a:t>
            </a:r>
            <a:endParaRPr/>
          </a:p>
        </p:txBody>
      </p:sp>
      <p:pic>
        <p:nvPicPr>
          <p:cNvPr id="442" name="Google Shape;442;p59"/>
          <p:cNvPicPr preferRelativeResize="0"/>
          <p:nvPr/>
        </p:nvPicPr>
        <p:blipFill>
          <a:blip r:embed="rId3">
            <a:alphaModFix/>
          </a:blip>
          <a:stretch>
            <a:fillRect/>
          </a:stretch>
        </p:blipFill>
        <p:spPr>
          <a:xfrm>
            <a:off x="178375" y="1446444"/>
            <a:ext cx="5429250" cy="3105150"/>
          </a:xfrm>
          <a:prstGeom prst="rect">
            <a:avLst/>
          </a:prstGeom>
          <a:noFill/>
          <a:ln>
            <a:noFill/>
          </a:ln>
        </p:spPr>
      </p:pic>
      <p:pic>
        <p:nvPicPr>
          <p:cNvPr id="443" name="Google Shape;443;p59"/>
          <p:cNvPicPr preferRelativeResize="0"/>
          <p:nvPr/>
        </p:nvPicPr>
        <p:blipFill>
          <a:blip r:embed="rId4">
            <a:alphaModFix/>
          </a:blip>
          <a:stretch>
            <a:fillRect/>
          </a:stretch>
        </p:blipFill>
        <p:spPr>
          <a:xfrm>
            <a:off x="3913925" y="2698750"/>
            <a:ext cx="5278550" cy="23460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60"/>
          <p:cNvPicPr preferRelativeResize="0"/>
          <p:nvPr/>
        </p:nvPicPr>
        <p:blipFill>
          <a:blip r:embed="rId3">
            <a:alphaModFix/>
          </a:blip>
          <a:stretch>
            <a:fillRect/>
          </a:stretch>
        </p:blipFill>
        <p:spPr>
          <a:xfrm>
            <a:off x="3786900" y="164175"/>
            <a:ext cx="5231375" cy="2740825"/>
          </a:xfrm>
          <a:prstGeom prst="rect">
            <a:avLst/>
          </a:prstGeom>
          <a:noFill/>
          <a:ln>
            <a:noFill/>
          </a:ln>
        </p:spPr>
      </p:pic>
      <p:sp>
        <p:nvSpPr>
          <p:cNvPr id="449" name="Google Shape;449;p6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Latency Registers</a:t>
            </a:r>
            <a:endParaRPr/>
          </a:p>
        </p:txBody>
      </p:sp>
      <p:pic>
        <p:nvPicPr>
          <p:cNvPr id="450" name="Google Shape;450;p60"/>
          <p:cNvPicPr preferRelativeResize="0"/>
          <p:nvPr/>
        </p:nvPicPr>
        <p:blipFill>
          <a:blip r:embed="rId4">
            <a:alphaModFix/>
          </a:blip>
          <a:stretch>
            <a:fillRect/>
          </a:stretch>
        </p:blipFill>
        <p:spPr>
          <a:xfrm>
            <a:off x="296138" y="3013000"/>
            <a:ext cx="8551726" cy="18247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p61"/>
          <p:cNvPicPr preferRelativeResize="0"/>
          <p:nvPr/>
        </p:nvPicPr>
        <p:blipFill>
          <a:blip r:embed="rId3">
            <a:alphaModFix/>
          </a:blip>
          <a:stretch>
            <a:fillRect/>
          </a:stretch>
        </p:blipFill>
        <p:spPr>
          <a:xfrm>
            <a:off x="152400" y="1420456"/>
            <a:ext cx="5574675" cy="3589174"/>
          </a:xfrm>
          <a:prstGeom prst="rect">
            <a:avLst/>
          </a:prstGeom>
          <a:noFill/>
          <a:ln>
            <a:noFill/>
          </a:ln>
        </p:spPr>
      </p:pic>
      <p:sp>
        <p:nvSpPr>
          <p:cNvPr id="456" name="Google Shape;456;p6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Port Latencies</a:t>
            </a:r>
            <a:endParaRPr/>
          </a:p>
        </p:txBody>
      </p:sp>
      <p:pic>
        <p:nvPicPr>
          <p:cNvPr id="457" name="Google Shape;457;p61"/>
          <p:cNvPicPr preferRelativeResize="0"/>
          <p:nvPr/>
        </p:nvPicPr>
        <p:blipFill>
          <a:blip r:embed="rId4">
            <a:alphaModFix/>
          </a:blip>
          <a:stretch>
            <a:fillRect/>
          </a:stretch>
        </p:blipFill>
        <p:spPr>
          <a:xfrm>
            <a:off x="3267889" y="843097"/>
            <a:ext cx="5782738" cy="24565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Latency Annotations</a:t>
            </a:r>
            <a:endParaRPr/>
          </a:p>
        </p:txBody>
      </p:sp>
      <p:pic>
        <p:nvPicPr>
          <p:cNvPr id="463" name="Google Shape;463;p62"/>
          <p:cNvPicPr preferRelativeResize="0"/>
          <p:nvPr/>
        </p:nvPicPr>
        <p:blipFill>
          <a:blip r:embed="rId3">
            <a:alphaModFix/>
          </a:blip>
          <a:stretch>
            <a:fillRect/>
          </a:stretch>
        </p:blipFill>
        <p:spPr>
          <a:xfrm>
            <a:off x="152400" y="3609852"/>
            <a:ext cx="8839200" cy="843742"/>
          </a:xfrm>
          <a:prstGeom prst="rect">
            <a:avLst/>
          </a:prstGeom>
          <a:noFill/>
          <a:ln>
            <a:noFill/>
          </a:ln>
        </p:spPr>
      </p:pic>
      <p:pic>
        <p:nvPicPr>
          <p:cNvPr id="464" name="Google Shape;464;p62"/>
          <p:cNvPicPr preferRelativeResize="0"/>
          <p:nvPr/>
        </p:nvPicPr>
        <p:blipFill>
          <a:blip r:embed="rId4">
            <a:alphaModFix/>
          </a:blip>
          <a:stretch>
            <a:fillRect/>
          </a:stretch>
        </p:blipFill>
        <p:spPr>
          <a:xfrm>
            <a:off x="1583275" y="1199344"/>
            <a:ext cx="5977451" cy="203700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Multiple Interfaces</a:t>
            </a:r>
            <a:endParaRPr/>
          </a:p>
        </p:txBody>
      </p:sp>
      <p:pic>
        <p:nvPicPr>
          <p:cNvPr id="470" name="Google Shape;470;p63"/>
          <p:cNvPicPr preferRelativeResize="0"/>
          <p:nvPr/>
        </p:nvPicPr>
        <p:blipFill>
          <a:blip r:embed="rId3">
            <a:alphaModFix/>
          </a:blip>
          <a:stretch>
            <a:fillRect/>
          </a:stretch>
        </p:blipFill>
        <p:spPr>
          <a:xfrm>
            <a:off x="152400" y="1268044"/>
            <a:ext cx="8839204" cy="312911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Latency Cuts</a:t>
            </a:r>
            <a:endParaRPr/>
          </a:p>
        </p:txBody>
      </p:sp>
      <p:pic>
        <p:nvPicPr>
          <p:cNvPr id="476" name="Google Shape;476;p64"/>
          <p:cNvPicPr preferRelativeResize="0"/>
          <p:nvPr/>
        </p:nvPicPr>
        <p:blipFill>
          <a:blip r:embed="rId3">
            <a:alphaModFix/>
          </a:blip>
          <a:stretch>
            <a:fillRect/>
          </a:stretch>
        </p:blipFill>
        <p:spPr>
          <a:xfrm>
            <a:off x="674625" y="139700"/>
            <a:ext cx="7794749" cy="48641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Latency offsets</a:t>
            </a:r>
            <a:endParaRPr/>
          </a:p>
        </p:txBody>
      </p:sp>
      <p:sp>
        <p:nvSpPr>
          <p:cNvPr id="482" name="Google Shape;482;p6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483" name="Google Shape;483;p65"/>
          <p:cNvPicPr preferRelativeResize="0"/>
          <p:nvPr/>
        </p:nvPicPr>
        <p:blipFill>
          <a:blip r:embed="rId3">
            <a:alphaModFix/>
          </a:blip>
          <a:stretch>
            <a:fillRect/>
          </a:stretch>
        </p:blipFill>
        <p:spPr>
          <a:xfrm>
            <a:off x="1325413" y="1463825"/>
            <a:ext cx="6493174" cy="3074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Architecture &amp; Future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Architecture</a:t>
            </a:r>
            <a:endParaRPr/>
          </a:p>
        </p:txBody>
      </p:sp>
      <p:pic>
        <p:nvPicPr>
          <p:cNvPr id="494" name="Google Shape;494;p67"/>
          <p:cNvPicPr preferRelativeResize="0"/>
          <p:nvPr/>
        </p:nvPicPr>
        <p:blipFill>
          <a:blip r:embed="rId3">
            <a:alphaModFix/>
          </a:blip>
          <a:stretch>
            <a:fillRect/>
          </a:stretch>
        </p:blipFill>
        <p:spPr>
          <a:xfrm>
            <a:off x="791930" y="61550"/>
            <a:ext cx="7560151" cy="502039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Short term milestones</a:t>
            </a:r>
            <a:br>
              <a:rPr lang="nl"/>
            </a:br>
            <a:r>
              <a:rPr lang="nl"/>
              <a:t>“Build anything in SUS”</a:t>
            </a:r>
            <a:endParaRPr/>
          </a:p>
        </p:txBody>
      </p:sp>
      <p:sp>
        <p:nvSpPr>
          <p:cNvPr id="500" name="Google Shape;500;p6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lang="nl"/>
              <a:t>Arbitrary Single-Clock hardware description</a:t>
            </a:r>
            <a:endParaRPr/>
          </a:p>
          <a:p>
            <a:pPr indent="-317500" lvl="1" marL="914400" rtl="0" algn="l">
              <a:lnSpc>
                <a:spcPct val="115000"/>
              </a:lnSpc>
              <a:spcBef>
                <a:spcPts val="0"/>
              </a:spcBef>
              <a:spcAft>
                <a:spcPts val="0"/>
              </a:spcAft>
              <a:buSzPts val="1400"/>
              <a:buChar char="○"/>
            </a:pPr>
            <a:r>
              <a:rPr lang="nl" strike="sngStrike"/>
              <a:t>Migrate from custom parser to Tree-Sitter</a:t>
            </a:r>
            <a:endParaRPr strike="sngStrike"/>
          </a:p>
          <a:p>
            <a:pPr indent="-317500" lvl="1" marL="914400" rtl="0" algn="l">
              <a:lnSpc>
                <a:spcPct val="115000"/>
              </a:lnSpc>
              <a:spcBef>
                <a:spcPts val="0"/>
              </a:spcBef>
              <a:spcAft>
                <a:spcPts val="0"/>
              </a:spcAft>
              <a:buSzPts val="1400"/>
              <a:buChar char="○"/>
            </a:pPr>
            <a:r>
              <a:rPr lang="nl"/>
              <a:t>Multi-interface modules</a:t>
            </a:r>
            <a:endParaRPr/>
          </a:p>
          <a:p>
            <a:pPr indent="-317500" lvl="1" marL="914400" rtl="0" algn="l">
              <a:lnSpc>
                <a:spcPct val="115000"/>
              </a:lnSpc>
              <a:spcBef>
                <a:spcPts val="0"/>
              </a:spcBef>
              <a:spcAft>
                <a:spcPts val="0"/>
              </a:spcAft>
              <a:buSzPts val="1400"/>
              <a:buChar char="○"/>
            </a:pPr>
            <a:r>
              <a:rPr lang="nl"/>
              <a:t>Integer Bounds</a:t>
            </a:r>
            <a:endParaRPr sz="1800"/>
          </a:p>
          <a:p>
            <a:pPr indent="-317500" lvl="1" marL="914400" rtl="0" algn="l">
              <a:lnSpc>
                <a:spcPct val="115000"/>
              </a:lnSpc>
              <a:spcBef>
                <a:spcPts val="0"/>
              </a:spcBef>
              <a:spcAft>
                <a:spcPts val="0"/>
              </a:spcAft>
              <a:buSzPts val="1400"/>
              <a:buChar char="○"/>
            </a:pPr>
            <a:r>
              <a:rPr lang="nl"/>
              <a:t>Templates &amp; Generative Parameters</a:t>
            </a:r>
            <a:endParaRPr/>
          </a:p>
          <a:p>
            <a:pPr indent="-317500" lvl="0" marL="457200" rtl="0" algn="l">
              <a:lnSpc>
                <a:spcPct val="115000"/>
              </a:lnSpc>
              <a:spcBef>
                <a:spcPts val="0"/>
              </a:spcBef>
              <a:spcAft>
                <a:spcPts val="0"/>
              </a:spcAft>
              <a:buSzPts val="1400"/>
              <a:buChar char="●"/>
            </a:pPr>
            <a:r>
              <a:rPr lang="nl"/>
              <a:t>Standard Library</a:t>
            </a:r>
            <a:endParaRPr/>
          </a:p>
          <a:p>
            <a:pPr indent="-317500" lvl="1" marL="914400" rtl="0" algn="l">
              <a:lnSpc>
                <a:spcPct val="115000"/>
              </a:lnSpc>
              <a:spcBef>
                <a:spcPts val="0"/>
              </a:spcBef>
              <a:spcAft>
                <a:spcPts val="0"/>
              </a:spcAft>
              <a:buSzPts val="1400"/>
              <a:buChar char="○"/>
            </a:pPr>
            <a:r>
              <a:rPr lang="nl"/>
              <a:t>Extern (Verilog) Modules</a:t>
            </a:r>
            <a:endParaRPr/>
          </a:p>
          <a:p>
            <a:pPr indent="-317500" lvl="1" marL="914400" rtl="0" algn="l">
              <a:lnSpc>
                <a:spcPct val="115000"/>
              </a:lnSpc>
              <a:spcBef>
                <a:spcPts val="0"/>
              </a:spcBef>
              <a:spcAft>
                <a:spcPts val="0"/>
              </a:spcAft>
              <a:buSzPts val="1400"/>
              <a:buChar char="○"/>
            </a:pPr>
            <a:r>
              <a:rPr lang="nl"/>
              <a:t>Implement FIFO, Memory Block, Skid Buffer, Distributor, Merger, etc</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Vague long term milestones</a:t>
            </a:r>
            <a:endParaRPr/>
          </a:p>
          <a:p>
            <a:pPr indent="0" lvl="0" marL="0" rtl="0" algn="l">
              <a:lnSpc>
                <a:spcPct val="115000"/>
              </a:lnSpc>
              <a:spcBef>
                <a:spcPts val="0"/>
              </a:spcBef>
              <a:spcAft>
                <a:spcPts val="0"/>
              </a:spcAft>
              <a:buNone/>
            </a:pPr>
            <a:r>
              <a:rPr lang="nl"/>
              <a:t>“SUS stands for Safety”</a:t>
            </a:r>
            <a:endParaRPr/>
          </a:p>
        </p:txBody>
      </p:sp>
      <p:sp>
        <p:nvSpPr>
          <p:cNvPr id="506" name="Google Shape;506;p6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lang="nl"/>
              <a:t>CIRCT Compile Target</a:t>
            </a:r>
            <a:endParaRPr/>
          </a:p>
          <a:p>
            <a:pPr indent="-317500" lvl="1" marL="914400" rtl="0" algn="l">
              <a:lnSpc>
                <a:spcPct val="115000"/>
              </a:lnSpc>
              <a:spcBef>
                <a:spcPts val="0"/>
              </a:spcBef>
              <a:spcAft>
                <a:spcPts val="0"/>
              </a:spcAft>
              <a:buSzPts val="1400"/>
              <a:buChar char="○"/>
            </a:pPr>
            <a:r>
              <a:rPr lang="nl"/>
              <a:t>Enables use of btor2 LTL for verification</a:t>
            </a:r>
            <a:endParaRPr/>
          </a:p>
          <a:p>
            <a:pPr indent="-317500" lvl="0" marL="457200" rtl="0" algn="l">
              <a:lnSpc>
                <a:spcPct val="115000"/>
              </a:lnSpc>
              <a:spcBef>
                <a:spcPts val="0"/>
              </a:spcBef>
              <a:spcAft>
                <a:spcPts val="0"/>
              </a:spcAft>
              <a:buSzPts val="1400"/>
              <a:buChar char="●"/>
            </a:pPr>
            <a:r>
              <a:rPr lang="nl"/>
              <a:t>Advanced Bounds</a:t>
            </a:r>
            <a:endParaRPr/>
          </a:p>
          <a:p>
            <a:pPr indent="-317500" lvl="1" marL="914400" rtl="0" algn="l">
              <a:lnSpc>
                <a:spcPct val="115000"/>
              </a:lnSpc>
              <a:spcBef>
                <a:spcPts val="0"/>
              </a:spcBef>
              <a:spcAft>
                <a:spcPts val="0"/>
              </a:spcAft>
              <a:buSzPts val="1400"/>
              <a:buChar char="○"/>
            </a:pPr>
            <a:r>
              <a:rPr lang="nl"/>
              <a:t>Use Bounds system as an alternative to Sum Types</a:t>
            </a:r>
            <a:endParaRPr/>
          </a:p>
          <a:p>
            <a:pPr indent="-317500" lvl="1" marL="914400" rtl="0" algn="l">
              <a:lnSpc>
                <a:spcPct val="115000"/>
              </a:lnSpc>
              <a:spcBef>
                <a:spcPts val="0"/>
              </a:spcBef>
              <a:spcAft>
                <a:spcPts val="0"/>
              </a:spcAft>
              <a:buSzPts val="1400"/>
              <a:buChar char="○"/>
            </a:pPr>
            <a:r>
              <a:rPr lang="nl"/>
              <a:t>Protect FIFOs, skid buffers, etc in the STL using LTL verification</a:t>
            </a:r>
            <a:endParaRPr/>
          </a:p>
          <a:p>
            <a:pPr indent="-317500" lvl="0" marL="457200" rtl="0" algn="l">
              <a:lnSpc>
                <a:spcPct val="115000"/>
              </a:lnSpc>
              <a:spcBef>
                <a:spcPts val="0"/>
              </a:spcBef>
              <a:spcAft>
                <a:spcPts val="0"/>
              </a:spcAft>
              <a:buSzPts val="1400"/>
              <a:buChar char="●"/>
            </a:pPr>
            <a:r>
              <a:rPr lang="nl"/>
              <a:t>Arbitrary Multi-Clock hardware description</a:t>
            </a:r>
            <a:endParaRPr/>
          </a:p>
          <a:p>
            <a:pPr indent="-317500" lvl="1" marL="914400" rtl="0" algn="l">
              <a:lnSpc>
                <a:spcPct val="115000"/>
              </a:lnSpc>
              <a:spcBef>
                <a:spcPts val="0"/>
              </a:spcBef>
              <a:spcAft>
                <a:spcPts val="0"/>
              </a:spcAft>
              <a:buSzPts val="1400"/>
              <a:buChar char="○"/>
            </a:pPr>
            <a:r>
              <a:rPr lang="nl"/>
              <a:t>STL Clock Domain Crossing modules</a:t>
            </a:r>
            <a:endParaRPr/>
          </a:p>
          <a:p>
            <a:pPr indent="-317500" lvl="1" marL="914400" rtl="0" algn="l">
              <a:lnSpc>
                <a:spcPct val="115000"/>
              </a:lnSpc>
              <a:spcBef>
                <a:spcPts val="0"/>
              </a:spcBef>
              <a:spcAft>
                <a:spcPts val="0"/>
              </a:spcAft>
              <a:buSzPts val="1400"/>
              <a:buChar char="○"/>
            </a:pPr>
            <a:r>
              <a:rPr lang="nl"/>
              <a:t>Multi-Clock STL modules</a:t>
            </a:r>
            <a:endParaRPr/>
          </a:p>
          <a:p>
            <a:pPr indent="-317500" lvl="0" marL="457200" rtl="0" algn="l">
              <a:lnSpc>
                <a:spcPct val="115000"/>
              </a:lnSpc>
              <a:spcBef>
                <a:spcPts val="0"/>
              </a:spcBef>
              <a:spcAft>
                <a:spcPts val="0"/>
              </a:spcAft>
              <a:buSzPts val="1400"/>
              <a:buChar char="●"/>
            </a:pPr>
            <a:r>
              <a:rPr lang="nl"/>
              <a:t>Inference of generative parameters</a:t>
            </a:r>
            <a:endParaRPr/>
          </a:p>
          <a:p>
            <a:pPr indent="-317500" lvl="0" marL="457200" rtl="0" algn="l">
              <a:lnSpc>
                <a:spcPct val="115000"/>
              </a:lnSpc>
              <a:spcBef>
                <a:spcPts val="0"/>
              </a:spcBef>
              <a:spcAft>
                <a:spcPts val="0"/>
              </a:spcAft>
              <a:buSzPts val="1400"/>
              <a:buChar char="●"/>
            </a:pPr>
            <a:r>
              <a:rPr lang="nl"/>
              <a:t>Custom Types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LSP Demo</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pic>
        <p:nvPicPr>
          <p:cNvPr id="516" name="Google Shape;516;p71"/>
          <p:cNvPicPr preferRelativeResize="0"/>
          <p:nvPr/>
        </p:nvPicPr>
        <p:blipFill>
          <a:blip r:embed="rId3">
            <a:alphaModFix/>
          </a:blip>
          <a:stretch>
            <a:fillRect/>
          </a:stretch>
        </p:blipFill>
        <p:spPr>
          <a:xfrm rot="1279643">
            <a:off x="6736025" y="2332100"/>
            <a:ext cx="1635400" cy="1635400"/>
          </a:xfrm>
          <a:prstGeom prst="rect">
            <a:avLst/>
          </a:prstGeom>
          <a:noFill/>
          <a:ln>
            <a:noFill/>
          </a:ln>
        </p:spPr>
      </p:pic>
      <p:pic>
        <p:nvPicPr>
          <p:cNvPr id="517" name="Google Shape;517;p71"/>
          <p:cNvPicPr preferRelativeResize="0"/>
          <p:nvPr/>
        </p:nvPicPr>
        <p:blipFill>
          <a:blip r:embed="rId4">
            <a:alphaModFix/>
          </a:blip>
          <a:stretch>
            <a:fillRect/>
          </a:stretch>
        </p:blipFill>
        <p:spPr>
          <a:xfrm>
            <a:off x="2520075" y="-71350"/>
            <a:ext cx="4103850" cy="4103850"/>
          </a:xfrm>
          <a:prstGeom prst="rect">
            <a:avLst/>
          </a:prstGeom>
          <a:noFill/>
          <a:ln>
            <a:noFill/>
          </a:ln>
        </p:spPr>
      </p:pic>
      <p:sp>
        <p:nvSpPr>
          <p:cNvPr id="518" name="Google Shape;518;p71"/>
          <p:cNvSpPr txBox="1"/>
          <p:nvPr/>
        </p:nvSpPr>
        <p:spPr>
          <a:xfrm>
            <a:off x="372450" y="3779200"/>
            <a:ext cx="8399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4000">
                <a:solidFill>
                  <a:schemeClr val="accent1"/>
                </a:solidFill>
              </a:rPr>
              <a:t>github.com/pc2/sus-compiler</a:t>
            </a:r>
            <a:endParaRPr sz="4000">
              <a:solidFill>
                <a:schemeClr val="accent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2"/>
          <p:cNvSpPr txBox="1"/>
          <p:nvPr>
            <p:ph idx="1" type="body"/>
          </p:nvPr>
        </p:nvSpPr>
        <p:spPr>
          <a:xfrm>
            <a:off x="628650" y="473252"/>
            <a:ext cx="7886700" cy="4159500"/>
          </a:xfrm>
          <a:prstGeom prst="rect">
            <a:avLst/>
          </a:prstGeom>
        </p:spPr>
        <p:txBody>
          <a:bodyPr anchorCtr="0" anchor="t" bIns="34275" lIns="68575" spcFirstLastPara="1" rIns="68575" wrap="square" tIns="34275">
            <a:normAutofit/>
          </a:bodyPr>
          <a:lstStyle/>
          <a:p>
            <a:pPr indent="-317500" lvl="0" marL="457200" rtl="0" algn="l">
              <a:lnSpc>
                <a:spcPct val="115000"/>
              </a:lnSpc>
              <a:spcBef>
                <a:spcPts val="800"/>
              </a:spcBef>
              <a:spcAft>
                <a:spcPts val="0"/>
              </a:spcAft>
              <a:buSzPts val="1400"/>
              <a:buChar char="●"/>
            </a:pPr>
            <a:r>
              <a:rPr lang="nl"/>
              <a:t>Are “traits” reasonable for hardware?</a:t>
            </a:r>
            <a:endParaRPr/>
          </a:p>
          <a:p>
            <a:pPr indent="-317500" lvl="0" marL="457200" rtl="0" algn="l">
              <a:lnSpc>
                <a:spcPct val="115000"/>
              </a:lnSpc>
              <a:spcBef>
                <a:spcPts val="0"/>
              </a:spcBef>
              <a:spcAft>
                <a:spcPts val="0"/>
              </a:spcAft>
              <a:buSzPts val="1400"/>
              <a:buChar char="●"/>
            </a:pPr>
            <a:r>
              <a:rPr lang="nl"/>
              <a:t>C-style types vs Rust-style types?</a:t>
            </a:r>
            <a:endParaRPr/>
          </a:p>
          <a:p>
            <a:pPr indent="-317500" lvl="0" marL="457200" rtl="0" algn="l">
              <a:lnSpc>
                <a:spcPct val="115000"/>
              </a:lnSpc>
              <a:spcBef>
                <a:spcPts val="0"/>
              </a:spcBef>
              <a:spcAft>
                <a:spcPts val="0"/>
              </a:spcAft>
              <a:buSzPts val="1400"/>
              <a:buChar char="●"/>
            </a:pPr>
            <a:r>
              <a:rPr lang="nl"/>
              <a:t>Type inference?</a:t>
            </a:r>
            <a:endParaRPr/>
          </a:p>
          <a:p>
            <a:pPr indent="-317500" lvl="0" marL="457200" rtl="0" algn="l">
              <a:lnSpc>
                <a:spcPct val="115000"/>
              </a:lnSpc>
              <a:spcBef>
                <a:spcPts val="0"/>
              </a:spcBef>
              <a:spcAft>
                <a:spcPts val="0"/>
              </a:spcAft>
              <a:buSzPts val="1400"/>
              <a:buChar char="●"/>
            </a:pPr>
            <a:r>
              <a:rPr lang="nl"/>
              <a:t>Additional Constructs: </a:t>
            </a:r>
            <a:r>
              <a:rPr lang="nl">
                <a:latin typeface="Courier New"/>
                <a:ea typeface="Courier New"/>
                <a:cs typeface="Courier New"/>
                <a:sym typeface="Courier New"/>
              </a:rPr>
              <a:t>first, only, chain</a:t>
            </a:r>
            <a:r>
              <a:rPr lang="nl"/>
              <a:t>? </a:t>
            </a:r>
            <a:endParaRPr/>
          </a:p>
          <a:p>
            <a:pPr indent="-317500" lvl="0" marL="457200" rtl="0" algn="l">
              <a:lnSpc>
                <a:spcPct val="115000"/>
              </a:lnSpc>
              <a:spcBef>
                <a:spcPts val="0"/>
              </a:spcBef>
              <a:spcAft>
                <a:spcPts val="0"/>
              </a:spcAft>
              <a:buSzPts val="1400"/>
              <a:buChar char="●"/>
            </a:pPr>
            <a:r>
              <a:rPr lang="nl"/>
              <a:t>Backend?</a:t>
            </a:r>
            <a:endParaRPr/>
          </a:p>
          <a:p>
            <a:pPr indent="-317500" lvl="0" marL="457200" rtl="0" algn="l">
              <a:lnSpc>
                <a:spcPct val="115000"/>
              </a:lnSpc>
              <a:spcBef>
                <a:spcPts val="0"/>
              </a:spcBef>
              <a:spcAft>
                <a:spcPts val="0"/>
              </a:spcAft>
              <a:buSzPts val="1400"/>
              <a:buChar char="●"/>
            </a:pPr>
            <a:r>
              <a:rPr lang="nl"/>
              <a:t>Abstraction for valid/reset protocols?</a:t>
            </a:r>
            <a:endParaRPr/>
          </a:p>
          <a:p>
            <a:pPr indent="-317500" lvl="0" marL="457200" rtl="0" algn="l">
              <a:lnSpc>
                <a:spcPct val="115000"/>
              </a:lnSpc>
              <a:spcBef>
                <a:spcPts val="0"/>
              </a:spcBef>
              <a:spcAft>
                <a:spcPts val="0"/>
              </a:spcAft>
              <a:buSzPts val="1400"/>
              <a:buChar char="●"/>
            </a:pPr>
            <a:r>
              <a:rPr lang="nl"/>
              <a:t>Built-in Verification?</a:t>
            </a:r>
            <a:endParaRPr/>
          </a:p>
          <a:p>
            <a:pPr indent="-317500" lvl="0" marL="457200" rtl="0" algn="l">
              <a:lnSpc>
                <a:spcPct val="115000"/>
              </a:lnSpc>
              <a:spcBef>
                <a:spcPts val="0"/>
              </a:spcBef>
              <a:spcAft>
                <a:spcPts val="0"/>
              </a:spcAft>
              <a:buSzPts val="1400"/>
              <a:buChar char="●"/>
            </a:pPr>
            <a:r>
              <a:rPr lang="nl"/>
              <a:t>Bounded integers vs bitwidths?</a:t>
            </a:r>
            <a:endParaRPr/>
          </a:p>
          <a:p>
            <a:pPr indent="-317500" lvl="0" marL="457200" rtl="0" algn="l">
              <a:lnSpc>
                <a:spcPct val="115000"/>
              </a:lnSpc>
              <a:spcBef>
                <a:spcPts val="0"/>
              </a:spcBef>
              <a:spcAft>
                <a:spcPts val="0"/>
              </a:spcAft>
              <a:buSzPts val="1400"/>
              <a:buChar char="●"/>
            </a:pPr>
            <a:r>
              <a:rPr lang="nl"/>
              <a:t>Integer representations? (2s cpl, vs 1s cpl vs </a:t>
            </a:r>
            <a:r>
              <a:rPr lang="nl"/>
              <a:t>one-hot vs registered</a:t>
            </a:r>
            <a:r>
              <a:rPr lang="nl"/>
              <a:t>)</a:t>
            </a:r>
            <a:endParaRPr/>
          </a:p>
          <a:p>
            <a:pPr indent="-317500" lvl="0" marL="457200" rtl="0" algn="l">
              <a:lnSpc>
                <a:spcPct val="115000"/>
              </a:lnSpc>
              <a:spcBef>
                <a:spcPts val="0"/>
              </a:spcBef>
              <a:spcAft>
                <a:spcPts val="0"/>
              </a:spcAft>
              <a:buSzPts val="1400"/>
              <a:buChar char="●"/>
            </a:pPr>
            <a:r>
              <a:rPr lang="nl"/>
              <a:t>Built-in Floats?</a:t>
            </a:r>
            <a:endParaRPr/>
          </a:p>
          <a:p>
            <a:pPr indent="-317500" lvl="0" marL="457200" rtl="0" algn="l">
              <a:lnSpc>
                <a:spcPct val="115000"/>
              </a:lnSpc>
              <a:spcBef>
                <a:spcPts val="0"/>
              </a:spcBef>
              <a:spcAft>
                <a:spcPts val="0"/>
              </a:spcAft>
              <a:buSzPts val="1400"/>
              <a:buChar char="●"/>
            </a:pPr>
            <a:r>
              <a:rPr lang="nl"/>
              <a:t>Sum Types?</a:t>
            </a:r>
            <a:endParaRPr/>
          </a:p>
          <a:p>
            <a:pPr indent="-317500" lvl="0" marL="457200" rtl="0" algn="l">
              <a:lnSpc>
                <a:spcPct val="115000"/>
              </a:lnSpc>
              <a:spcBef>
                <a:spcPts val="0"/>
              </a:spcBef>
              <a:spcAft>
                <a:spcPts val="0"/>
              </a:spcAft>
              <a:buSzPts val="1400"/>
              <a:buChar char="●"/>
            </a:pPr>
            <a:r>
              <a:rPr lang="nl"/>
              <a:t>Latency offsets within structs?</a:t>
            </a:r>
            <a:endParaRPr/>
          </a:p>
          <a:p>
            <a:pPr indent="-317500" lvl="0" marL="457200" rtl="0" algn="l">
              <a:lnSpc>
                <a:spcPct val="115000"/>
              </a:lnSpc>
              <a:spcBef>
                <a:spcPts val="0"/>
              </a:spcBef>
              <a:spcAft>
                <a:spcPts val="0"/>
              </a:spcAft>
              <a:buSzPts val="1400"/>
              <a:buChar char="●"/>
            </a:pPr>
            <a:r>
              <a:rPr lang="nl"/>
              <a:t>What becomes of SUS after I graduate?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