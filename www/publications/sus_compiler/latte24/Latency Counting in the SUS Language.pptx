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nl">
                <a:solidFill>
                  <a:schemeClr val="dk1"/>
                </a:solidFill>
              </a:rPr>
              <a:t>SUS is a language that focusses on making RTL design easier, but not </a:t>
            </a:r>
            <a:r>
              <a:rPr lang="nl">
                <a:solidFill>
                  <a:schemeClr val="dk1"/>
                </a:solidFill>
              </a:rPr>
              <a:t>necessarily</a:t>
            </a:r>
            <a:r>
              <a:rPr lang="nl">
                <a:solidFill>
                  <a:schemeClr val="dk1"/>
                </a:solidFill>
              </a:rPr>
              <a:t> on making incorrect hardware irrepresentable. The main idea is if we make it easy enough for the user to use the correct abstraction, then won’t </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SUS Goals</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No time for whole language</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Pick out Latency counting interesting</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Not incorrect unrepresentable, but correct easy</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mental model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nl">
                <a:solidFill>
                  <a:schemeClr val="dk1"/>
                </a:solidFill>
              </a:rPr>
              <a:t>Hi, I’ll talk today on what the goals are for the latency counting system in the SUS Hardware Design language. I won’t have time to go into the details on the whole language here, so I picked out this system as it’s the most interesting.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nl">
                <a:solidFill>
                  <a:schemeClr val="dk1"/>
                </a:solidFill>
              </a:rPr>
              <a:t>The goal with SUS is not to make incorrect hardware unrepresentable, but to make creating correct hardware easier than incorrect by mapping the language more closely to the hardware designer’s mental model.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cfd2b3d60f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cfd2b3d60f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State &amp; Latency regs</a:t>
            </a:r>
            <a:endParaRPr/>
          </a:p>
          <a:p>
            <a:pPr indent="-298450" lvl="0" marL="457200" rtl="0" algn="l">
              <a:spcBef>
                <a:spcPts val="0"/>
              </a:spcBef>
              <a:spcAft>
                <a:spcPts val="0"/>
              </a:spcAft>
              <a:buSzPts val="1100"/>
              <a:buChar char="-"/>
            </a:pPr>
            <a:r>
              <a:rPr lang="nl"/>
              <a:t>Distinction is intention</a:t>
            </a:r>
            <a:endParaRPr/>
          </a:p>
          <a:p>
            <a:pPr indent="-298450" lvl="0" marL="457200" rtl="0" algn="l">
              <a:spcBef>
                <a:spcPts val="0"/>
              </a:spcBef>
              <a:spcAft>
                <a:spcPts val="0"/>
              </a:spcAft>
              <a:buSzPts val="1100"/>
              <a:buChar char="-"/>
            </a:pPr>
            <a:r>
              <a:rPr lang="nl"/>
              <a:t>State: clock cycles in logic function</a:t>
            </a:r>
            <a:endParaRPr/>
          </a:p>
          <a:p>
            <a:pPr indent="-298450" lvl="0" marL="457200" rtl="0" algn="l">
              <a:spcBef>
                <a:spcPts val="0"/>
              </a:spcBef>
              <a:spcAft>
                <a:spcPts val="0"/>
              </a:spcAft>
              <a:buSzPts val="1100"/>
              <a:buChar char="-"/>
            </a:pPr>
            <a:r>
              <a:rPr lang="nl"/>
              <a:t>Latency: pipelining/meeting timing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SUS creates a major abstraction by dividing the registers in two categories. State and latency registers. </a:t>
            </a:r>
            <a:br>
              <a:rPr lang="nl"/>
            </a:br>
            <a:br>
              <a:rPr lang="nl"/>
            </a:br>
            <a:r>
              <a:rPr lang="nl"/>
              <a:t>The distinction is programmer intention: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State registers are for when you want to move data across clock cycles as part of the logic’s function.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Latency registers are purely for pipelining and meeting timing. </a:t>
            </a:r>
            <a:br>
              <a:rPr lang="nl"/>
            </a:br>
            <a:br>
              <a:rPr lang="nl"/>
            </a:br>
            <a:r>
              <a:rPr lang="nl"/>
              <a:t>In the rest of the slides, state registers are blue, and latency registers yellow.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fd2b3d60f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cfd2b3d60f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Just state, same as normal</a:t>
            </a:r>
            <a:endParaRPr/>
          </a:p>
          <a:p>
            <a:pPr indent="-298450" lvl="0" marL="457200" rtl="0" algn="l">
              <a:spcBef>
                <a:spcPts val="0"/>
              </a:spcBef>
              <a:spcAft>
                <a:spcPts val="0"/>
              </a:spcAft>
              <a:buSzPts val="1100"/>
              <a:buChar char="-"/>
            </a:pPr>
            <a:r>
              <a:rPr lang="nl"/>
              <a:t>one elem per clock</a:t>
            </a:r>
            <a:endParaRPr/>
          </a:p>
          <a:p>
            <a:pPr indent="-298450" lvl="0" marL="457200" rtl="0" algn="l">
              <a:spcBef>
                <a:spcPts val="0"/>
              </a:spcBef>
              <a:spcAft>
                <a:spcPts val="0"/>
              </a:spcAft>
              <a:buSzPts val="1100"/>
              <a:buChar char="-"/>
            </a:pPr>
            <a:r>
              <a:rPr lang="nl"/>
              <a:t>explicit use of regs in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Here is a small </a:t>
            </a:r>
            <a:r>
              <a:rPr lang="nl"/>
              <a:t>example</a:t>
            </a:r>
            <a:r>
              <a:rPr lang="nl"/>
              <a:t> of just state registers. State registers</a:t>
            </a:r>
            <a:r>
              <a:rPr lang="nl"/>
              <a:t> are exactly the</a:t>
            </a:r>
            <a:r>
              <a:rPr lang="nl"/>
              <a:t> same as you would find in other HDLs like Verilog or VHDL. </a:t>
            </a:r>
            <a:br>
              <a:rPr lang="nl"/>
            </a:br>
            <a:endParaRPr/>
          </a:p>
          <a:p>
            <a:pPr indent="0" lvl="0" marL="0" rtl="0" algn="l">
              <a:spcBef>
                <a:spcPts val="0"/>
              </a:spcBef>
              <a:spcAft>
                <a:spcPts val="0"/>
              </a:spcAft>
              <a:buNone/>
            </a:pPr>
            <a:r>
              <a:rPr lang="nl"/>
              <a:t>This </a:t>
            </a:r>
            <a:r>
              <a:rPr lang="nl"/>
              <a:t>fibonacci</a:t>
            </a:r>
            <a:r>
              <a:rPr lang="nl"/>
              <a:t> module generates the sequence one element per clock cycle. </a:t>
            </a:r>
            <a:endParaRPr/>
          </a:p>
          <a:p>
            <a:pPr indent="0" lvl="0" marL="0" rtl="0" algn="l">
              <a:spcBef>
                <a:spcPts val="0"/>
              </a:spcBef>
              <a:spcAft>
                <a:spcPts val="0"/>
              </a:spcAft>
              <a:buNone/>
            </a:pPr>
            <a:br>
              <a:rPr lang="nl"/>
            </a:br>
            <a:r>
              <a:rPr lang="nl"/>
              <a:t>In this example we explicitly want to move data across clock cycles as part of the design’s functioning.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fd2b3d60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fd2b3d60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Latency used timing</a:t>
            </a:r>
            <a:endParaRPr/>
          </a:p>
          <a:p>
            <a:pPr indent="-298450" lvl="0" marL="457200" rtl="0" algn="l">
              <a:spcBef>
                <a:spcPts val="0"/>
              </a:spcBef>
              <a:spcAft>
                <a:spcPts val="0"/>
              </a:spcAft>
              <a:buSzPts val="1100"/>
              <a:buChar char="-"/>
            </a:pPr>
            <a:r>
              <a:rPr lang="nl"/>
              <a:t>Not allowed to affect functionality</a:t>
            </a:r>
            <a:endParaRPr/>
          </a:p>
          <a:p>
            <a:pPr indent="-298450" lvl="0" marL="457200" rtl="0" algn="l">
              <a:spcBef>
                <a:spcPts val="0"/>
              </a:spcBef>
              <a:spcAft>
                <a:spcPts val="0"/>
              </a:spcAft>
              <a:buSzPts val="1100"/>
              <a:buChar char="-"/>
            </a:pPr>
            <a:r>
              <a:rPr lang="nl"/>
              <a:t>17th pow i</a:t>
            </a:r>
            <a:endParaRPr/>
          </a:p>
          <a:p>
            <a:pPr indent="-298450" lvl="0" marL="457200" rtl="0" algn="l">
              <a:spcBef>
                <a:spcPts val="0"/>
              </a:spcBef>
              <a:spcAft>
                <a:spcPts val="0"/>
              </a:spcAft>
              <a:buSzPts val="1100"/>
              <a:buChar char="-"/>
            </a:pPr>
            <a:r>
              <a:rPr lang="nl"/>
              <a:t>i*i 4 times</a:t>
            </a:r>
            <a:endParaRPr/>
          </a:p>
          <a:p>
            <a:pPr indent="-298450" lvl="0" marL="457200" rtl="0" algn="l">
              <a:spcBef>
                <a:spcPts val="0"/>
              </a:spcBef>
              <a:spcAft>
                <a:spcPts val="0"/>
              </a:spcAft>
              <a:buSzPts val="1100"/>
              <a:buChar char="-"/>
            </a:pPr>
            <a:r>
              <a:rPr lang="nl"/>
              <a:t>multiply by original</a:t>
            </a:r>
            <a:endParaRPr/>
          </a:p>
          <a:p>
            <a:pPr indent="-298450" lvl="0" marL="457200" rtl="0" algn="l">
              <a:spcBef>
                <a:spcPts val="0"/>
              </a:spcBef>
              <a:spcAft>
                <a:spcPts val="0"/>
              </a:spcAft>
              <a:buSzPts val="1100"/>
              <a:buChar char="-"/>
            </a:pPr>
            <a:r>
              <a:rPr lang="nl"/>
              <a:t>add latency on one branch, compiler adds to sync</a:t>
            </a:r>
            <a:endParaRPr/>
          </a:p>
          <a:p>
            <a:pPr indent="-298450" lvl="0" marL="457200" rtl="0" algn="l">
              <a:spcBef>
                <a:spcPts val="0"/>
              </a:spcBef>
              <a:spcAft>
                <a:spcPts val="0"/>
              </a:spcAft>
              <a:buSzPts val="1100"/>
              <a:buChar char="-"/>
            </a:pPr>
            <a:r>
              <a:rPr lang="nl"/>
              <a:t>Most languages support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Latency registers on the other hand, are exclusively used to meet timing. They are not allowed to affect the functionality of the design.  (aside from the added latency of course).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In this case, we have a module that computes the 17th power of i. It multiplies i with itself four times, and then multiplies the original with that. We add some latency registers here and the compiler automatically adds extra registers to keep everything in sync.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It is implemented by keeping track of a value called “absolute latency”, which is increased for every latency register the code passes. That’s the number after the quote.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So far so good, this is a feature most pipeline design languages support.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fd2b3d60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fd2b3d60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Design freedom -&gt; ports differ latencies</a:t>
            </a:r>
            <a:endParaRPr/>
          </a:p>
          <a:p>
            <a:pPr indent="-298450" lvl="0" marL="457200" rtl="0" algn="l">
              <a:spcBef>
                <a:spcPts val="0"/>
              </a:spcBef>
              <a:spcAft>
                <a:spcPts val="0"/>
              </a:spcAft>
              <a:buSzPts val="1100"/>
              <a:buChar char="-"/>
            </a:pPr>
            <a:r>
              <a:rPr lang="nl"/>
              <a:t>factor list is 0, add_to 2 and so on</a:t>
            </a:r>
            <a:endParaRPr/>
          </a:p>
          <a:p>
            <a:pPr indent="-298450" lvl="0" marL="457200" rtl="0" algn="l">
              <a:spcBef>
                <a:spcPts val="0"/>
              </a:spcBef>
              <a:spcAft>
                <a:spcPts val="0"/>
              </a:spcAft>
              <a:buSzPts val="1100"/>
              <a:buChar char="-"/>
            </a:pPr>
            <a:r>
              <a:rPr lang="nl"/>
              <a:t>differences in port latencies used for counting for modules using it</a:t>
            </a:r>
            <a:endParaRPr/>
          </a:p>
          <a:p>
            <a:pPr indent="-298450" lvl="0" marL="457200" rtl="0" algn="l">
              <a:spcBef>
                <a:spcPts val="0"/>
              </a:spcBef>
              <a:spcAft>
                <a:spcPts val="0"/>
              </a:spcAft>
              <a:buSzPts val="1100"/>
              <a:buChar char="-"/>
            </a:pPr>
            <a:r>
              <a:rPr lang="nl"/>
              <a:t>latencies don’t need be specified, Latency Count infers them</a:t>
            </a:r>
            <a:endParaRPr/>
          </a:p>
          <a:p>
            <a:pPr indent="-298450" lvl="0" marL="457200" rtl="0" algn="l">
              <a:spcBef>
                <a:spcPts val="0"/>
              </a:spcBef>
              <a:spcAft>
                <a:spcPts val="0"/>
              </a:spcAft>
              <a:buSzPts val="1100"/>
              <a:buChar char="-"/>
            </a:pPr>
            <a:r>
              <a:rPr lang="nl"/>
              <a:t>inference makes latency count not as trivial as at a glance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To allow as much design freedom as possible, SUS allows ports to be at different latencies. For example in this case the factors list is at Absolute Latency 0, add_to 2, and so on. When the module is instantiated the port latencies are used in the parent module.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These latencies don’t need to be specified, as a big part of Latency Counting is inference of them. But this inference makes latency counting not as trivial of a problem as it might seem at first glance. </a:t>
            </a:r>
            <a:br>
              <a:rPr lang="nl"/>
            </a:br>
            <a:br>
              <a:rPr lang="nl"/>
            </a:br>
            <a:r>
              <a:rPr lang="nl"/>
              <a:t>What is important to see here is that any module has only one correct canonical representation.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cfd2b3d60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cfd2b3d60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Possible to override inferred</a:t>
            </a:r>
            <a:endParaRPr/>
          </a:p>
          <a:p>
            <a:pPr indent="-298450" lvl="0" marL="457200" rtl="0" algn="l">
              <a:spcBef>
                <a:spcPts val="0"/>
              </a:spcBef>
              <a:spcAft>
                <a:spcPts val="0"/>
              </a:spcAft>
              <a:buSzPts val="1100"/>
              <a:buChar char="-"/>
            </a:pPr>
            <a:r>
              <a:rPr lang="nl"/>
              <a:t>Forced to instantiate 5</a:t>
            </a:r>
            <a:endParaRPr/>
          </a:p>
          <a:p>
            <a:pPr indent="-298450" lvl="0" marL="457200" rtl="0" algn="l">
              <a:spcBef>
                <a:spcPts val="0"/>
              </a:spcBef>
              <a:spcAft>
                <a:spcPts val="0"/>
              </a:spcAft>
              <a:buSzPts val="1100"/>
              <a:buChar char="-"/>
            </a:pPr>
            <a:r>
              <a:rPr lang="nl"/>
              <a:t>ordinarily wire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It is however possible to override the inferred latencies with custom ones, as in this example. Here it is forced to instantiate 5 registers, where it would have ordinarily been a wire.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fd2b3d60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cfd2b3d60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Multiple interfaces</a:t>
            </a:r>
            <a:endParaRPr/>
          </a:p>
          <a:p>
            <a:pPr indent="-298450" lvl="0" marL="457200" rtl="0" algn="l">
              <a:spcBef>
                <a:spcPts val="0"/>
              </a:spcBef>
              <a:spcAft>
                <a:spcPts val="0"/>
              </a:spcAft>
              <a:buSzPts val="1100"/>
              <a:buChar char="-"/>
            </a:pPr>
            <a:r>
              <a:rPr lang="nl"/>
              <a:t>Each has latency “origin”</a:t>
            </a:r>
            <a:endParaRPr/>
          </a:p>
          <a:p>
            <a:pPr indent="-298450" lvl="0" marL="457200" rtl="0" algn="l">
              <a:spcBef>
                <a:spcPts val="0"/>
              </a:spcBef>
              <a:spcAft>
                <a:spcPts val="0"/>
              </a:spcAft>
              <a:buSzPts val="1100"/>
              <a:buChar char="-"/>
            </a:pPr>
            <a:r>
              <a:rPr lang="nl"/>
              <a:t>Interfaces are independent</a:t>
            </a:r>
            <a:endParaRPr/>
          </a:p>
          <a:p>
            <a:pPr indent="-298450" lvl="0" marL="457200" rtl="0" algn="l">
              <a:spcBef>
                <a:spcPts val="0"/>
              </a:spcBef>
              <a:spcAft>
                <a:spcPts val="0"/>
              </a:spcAft>
              <a:buSzPts val="1100"/>
              <a:buChar char="-"/>
            </a:pPr>
            <a:r>
              <a:rPr lang="nl"/>
              <a:t>Ports on write are “correlated”, no direct connection to read side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Modules can have multiple interfaces, each of which has its own latency ‘origin’. Interfaces are independent. Like in this example, all ports on the write side of the fifo are “correlated”, but they don’t have a direct connection to the ports in the read side.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cfd2b3d60f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cfd2b3d60f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FIFO Impl</a:t>
            </a:r>
            <a:endParaRPr/>
          </a:p>
          <a:p>
            <a:pPr indent="-298450" lvl="0" marL="457200" rtl="0" algn="l">
              <a:spcBef>
                <a:spcPts val="0"/>
              </a:spcBef>
              <a:spcAft>
                <a:spcPts val="0"/>
              </a:spcAft>
              <a:buSzPts val="1100"/>
              <a:buChar char="-"/>
            </a:pPr>
            <a:r>
              <a:rPr lang="nl"/>
              <a:t>Can see two interfaces</a:t>
            </a:r>
            <a:endParaRPr/>
          </a:p>
          <a:p>
            <a:pPr indent="-298450" lvl="0" marL="457200" rtl="0" algn="l">
              <a:spcBef>
                <a:spcPts val="0"/>
              </a:spcBef>
              <a:spcAft>
                <a:spcPts val="0"/>
              </a:spcAft>
              <a:buSzPts val="1100"/>
              <a:buChar char="-"/>
            </a:pPr>
            <a:r>
              <a:rPr lang="nl"/>
              <a:t>barrier shown triangles</a:t>
            </a:r>
            <a:endParaRPr/>
          </a:p>
          <a:p>
            <a:pPr indent="-298450" lvl="0" marL="457200" rtl="0" algn="l">
              <a:spcBef>
                <a:spcPts val="0"/>
              </a:spcBef>
              <a:spcAft>
                <a:spcPts val="0"/>
              </a:spcAft>
              <a:buSzPts val="1100"/>
              <a:buChar char="-"/>
            </a:pPr>
            <a:r>
              <a:rPr lang="nl"/>
              <a:t>no latency info carried</a:t>
            </a:r>
            <a:endParaRPr/>
          </a:p>
          <a:p>
            <a:pPr indent="-298450" lvl="0" marL="457200" rtl="0" algn="l">
              <a:spcBef>
                <a:spcPts val="0"/>
              </a:spcBef>
              <a:spcAft>
                <a:spcPts val="0"/>
              </a:spcAft>
              <a:buSzPts val="1100"/>
              <a:buChar char="-"/>
            </a:pPr>
            <a:r>
              <a:rPr lang="nl"/>
              <a:t>allow slack for user code</a:t>
            </a:r>
            <a:endParaRPr/>
          </a:p>
          <a:p>
            <a:pPr indent="-298450" lvl="0" marL="457200" rtl="0" algn="l">
              <a:spcBef>
                <a:spcPts val="0"/>
              </a:spcBef>
              <a:spcAft>
                <a:spcPts val="0"/>
              </a:spcAft>
              <a:buSzPts val="1100"/>
              <a:buChar char="-"/>
            </a:pPr>
            <a:r>
              <a:rPr lang="nl"/>
              <a:t>more interesting things:</a:t>
            </a:r>
            <a:endParaRPr/>
          </a:p>
          <a:p>
            <a:pPr indent="-298450" lvl="1" marL="914400" rtl="0" algn="l">
              <a:spcBef>
                <a:spcPts val="0"/>
              </a:spcBef>
              <a:spcAft>
                <a:spcPts val="0"/>
              </a:spcAft>
              <a:buSzPts val="1100"/>
              <a:buChar char="-"/>
            </a:pPr>
            <a:r>
              <a:rPr lang="nl"/>
              <a:t>added latency shows possible to combine</a:t>
            </a:r>
            <a:endParaRPr/>
          </a:p>
          <a:p>
            <a:pPr indent="-298450" lvl="1" marL="914400" rtl="0" algn="l">
              <a:spcBef>
                <a:spcPts val="0"/>
              </a:spcBef>
              <a:spcAft>
                <a:spcPts val="0"/>
              </a:spcAft>
              <a:buSzPts val="1100"/>
              <a:buChar char="-"/>
            </a:pPr>
            <a:r>
              <a:rPr lang="nl"/>
              <a:t>offset by -4 to allow write slack </a:t>
            </a:r>
            <a:endParaRPr/>
          </a:p>
          <a:p>
            <a:pPr indent="-298450" lvl="1" marL="914400" rtl="0" algn="l">
              <a:spcBef>
                <a:spcPts val="0"/>
              </a:spcBef>
              <a:spcAft>
                <a:spcPts val="0"/>
              </a:spcAft>
              <a:buSzPts val="1100"/>
              <a:buChar char="-"/>
            </a:pPr>
            <a:r>
              <a:rPr lang="nl"/>
              <a:t>crossing and offset are “breaking out”</a:t>
            </a:r>
            <a:endParaRPr/>
          </a:p>
          <a:p>
            <a:pPr indent="-298450" lvl="1" marL="914400" rtl="0" algn="l">
              <a:spcBef>
                <a:spcPts val="0"/>
              </a:spcBef>
              <a:spcAft>
                <a:spcPts val="0"/>
              </a:spcAft>
              <a:buSzPts val="1100"/>
              <a:buChar char="-"/>
            </a:pPr>
            <a:r>
              <a:rPr lang="nl"/>
              <a:t>Similar to Clock Domain Crossing - SUS way of CDC</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Diving into the FIFO implementation, we can distinctly see the two interfaces. </a:t>
            </a:r>
            <a:r>
              <a:rPr lang="nl"/>
              <a:t>When crossing an interface barrier, as shown with the white triangles, no latency information is carried over.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This FIFO allows for four cycles of delay between the ready and write ports, to allows some slack for the data provider’s implementation.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There’s several more interesting things in this image. For example we added a latency stage to the ready port, because this comparison could be expensive. </a:t>
            </a:r>
            <a:br>
              <a:rPr lang="nl"/>
            </a:br>
            <a:br>
              <a:rPr lang="nl"/>
            </a:br>
            <a:r>
              <a:rPr lang="nl"/>
              <a:t>Crossing the interface barrier is kind of breaking out of the latency counting system though, as is the offset -4 block. </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Finally you can notice that this is very similar to a clock domain crossing. In fact, interfaces are the place where clock domain crossings are done in SUS.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fd2b3d60f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cfd2b3d60f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Offset impl using latency cuts</a:t>
            </a:r>
            <a:endParaRPr/>
          </a:p>
          <a:p>
            <a:pPr indent="-298450" lvl="0" marL="457200" rtl="0" algn="l">
              <a:spcBef>
                <a:spcPts val="0"/>
              </a:spcBef>
              <a:spcAft>
                <a:spcPts val="0"/>
              </a:spcAft>
              <a:buSzPts val="1100"/>
              <a:buChar char="-"/>
            </a:pPr>
            <a:r>
              <a:rPr lang="nl"/>
              <a:t>anonymous interface</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As an aside, it’s actually possible to implement latency offsets using only latency cuts. Simply pass the data through an anonymous interface and back.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cfd2b3d60f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cfd2b3d60f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thank</a:t>
            </a:r>
            <a:endParaRPr/>
          </a:p>
          <a:p>
            <a:pPr indent="-298450" lvl="0" marL="457200" rtl="0" algn="l">
              <a:spcBef>
                <a:spcPts val="0"/>
              </a:spcBef>
              <a:spcAft>
                <a:spcPts val="0"/>
              </a:spcAft>
              <a:buSzPts val="1100"/>
              <a:buChar char="-"/>
            </a:pPr>
            <a:r>
              <a:rPr lang="nl"/>
              <a:t>LC small part of SUS</a:t>
            </a:r>
            <a:endParaRPr/>
          </a:p>
          <a:p>
            <a:pPr indent="-298450" lvl="0" marL="457200" rtl="0" algn="l">
              <a:spcBef>
                <a:spcPts val="0"/>
              </a:spcBef>
              <a:spcAft>
                <a:spcPts val="0"/>
              </a:spcAft>
              <a:buSzPts val="1100"/>
              <a:buChar char="-"/>
            </a:pPr>
            <a:r>
              <a:rPr lang="nl"/>
              <a:t>more to discuss, all I have time</a:t>
            </a:r>
            <a:endParaRPr/>
          </a:p>
          <a:p>
            <a:pPr indent="-298450" lvl="1" marL="914400" rtl="0" algn="l">
              <a:spcBef>
                <a:spcPts val="0"/>
              </a:spcBef>
              <a:spcAft>
                <a:spcPts val="0"/>
              </a:spcAft>
              <a:buSzPts val="1100"/>
              <a:buChar char="-"/>
            </a:pPr>
            <a:r>
              <a:rPr lang="nl"/>
              <a:t>such as inferring submodule latencies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nl"/>
              <a:t>Right then, I hope you all enjoyed my talk. </a:t>
            </a:r>
            <a:r>
              <a:rPr lang="nl"/>
              <a:t>Of course latency counting is only a small part of the SUS compiler, and there’s much much more to discuss, but this is all I have time for.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fd2b3d6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cfd2b3d6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nl">
                <a:solidFill>
                  <a:schemeClr val="dk1"/>
                </a:solidFill>
              </a:rPr>
              <a:t>“No spooky action at a distance”</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“No implementation Mystery”</a:t>
            </a:r>
            <a:endParaRPr>
              <a:solidFill>
                <a:schemeClr val="dk1"/>
              </a:solidFill>
            </a:endParaRPr>
          </a:p>
          <a:p>
            <a:pPr indent="0" lvl="0" marL="0" rtl="0" algn="l">
              <a:spcBef>
                <a:spcPts val="0"/>
              </a:spcBef>
              <a:spcAft>
                <a:spcPts val="0"/>
              </a:spcAft>
              <a:buNone/>
            </a:pPr>
            <a:r>
              <a:rPr lang="nl">
                <a:solidFill>
                  <a:schemeClr val="dk1"/>
                </a:solidFill>
              </a:rPr>
              <a:t>Simplicity: </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Simple syntax</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Conceptual</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What to infer, and how much</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nl">
                <a:solidFill>
                  <a:schemeClr val="dk1"/>
                </a:solidFill>
              </a:rPr>
              <a:t>Feedback: </a:t>
            </a:r>
            <a:endParaRPr>
              <a:solidFill>
                <a:schemeClr val="dk1"/>
              </a:solidFill>
            </a:endParaRPr>
          </a:p>
          <a:p>
            <a:pPr indent="-298450" lvl="0" marL="457200" rtl="0" algn="l">
              <a:spcBef>
                <a:spcPts val="0"/>
              </a:spcBef>
              <a:spcAft>
                <a:spcPts val="0"/>
              </a:spcAft>
              <a:buClr>
                <a:schemeClr val="dk1"/>
              </a:buClr>
              <a:buSzPts val="1100"/>
              <a:buChar char="-"/>
            </a:pPr>
            <a:r>
              <a:rPr lang="nl">
                <a:solidFill>
                  <a:schemeClr val="dk1"/>
                </a:solidFill>
              </a:rPr>
              <a:t>Error Reporting</a:t>
            </a:r>
            <a:endParaRPr>
              <a:solidFill>
                <a:schemeClr val="dk1"/>
              </a:solidFill>
            </a:endParaRPr>
          </a:p>
          <a:p>
            <a:pPr indent="-298450" lvl="0" marL="457200" rtl="0" algn="l">
              <a:spcBef>
                <a:spcPts val="0"/>
              </a:spcBef>
              <a:spcAft>
                <a:spcPts val="0"/>
              </a:spcAft>
              <a:buClr>
                <a:schemeClr val="dk1"/>
              </a:buClr>
              <a:buSzPts val="1100"/>
              <a:buChar char="-"/>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cf0bc0d8c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cf0bc0d8c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cf0bc0d8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cf0bc0d8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f0bc0d8c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cf0bc0d8c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nl"/>
              <a:t>“No spooky action at a distance”</a:t>
            </a:r>
            <a:endParaRPr/>
          </a:p>
          <a:p>
            <a:pPr indent="-298450" lvl="0" marL="457200" rtl="0" algn="l">
              <a:spcBef>
                <a:spcPts val="0"/>
              </a:spcBef>
              <a:spcAft>
                <a:spcPts val="0"/>
              </a:spcAft>
              <a:buSzPts val="1100"/>
              <a:buChar char="-"/>
            </a:pPr>
            <a:r>
              <a:rPr lang="nl"/>
              <a:t>“No implementation Mystery”</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cf0bc0d8c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cf0bc0d8c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cf0bc0d8c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cf0bc0d8c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1200"/>
              </a:spcBef>
              <a:spcAft>
                <a:spcPts val="0"/>
              </a:spcAft>
              <a:buClr>
                <a:schemeClr val="dk1"/>
              </a:buClr>
              <a:buSzPts val="1400"/>
              <a:buChar char="○"/>
              <a:defRPr/>
            </a:lvl2pPr>
            <a:lvl3pPr indent="-317500" lvl="2" marL="1371600" rtl="0" algn="l">
              <a:lnSpc>
                <a:spcPct val="90000"/>
              </a:lnSpc>
              <a:spcBef>
                <a:spcPts val="1200"/>
              </a:spcBef>
              <a:spcAft>
                <a:spcPts val="0"/>
              </a:spcAft>
              <a:buClr>
                <a:schemeClr val="dk1"/>
              </a:buClr>
              <a:buSzPts val="1400"/>
              <a:buChar char="■"/>
              <a:defRPr/>
            </a:lvl3pPr>
            <a:lvl4pPr indent="-317500" lvl="3" marL="1828800" rtl="0" algn="l">
              <a:lnSpc>
                <a:spcPct val="90000"/>
              </a:lnSpc>
              <a:spcBef>
                <a:spcPts val="1200"/>
              </a:spcBef>
              <a:spcAft>
                <a:spcPts val="0"/>
              </a:spcAft>
              <a:buClr>
                <a:schemeClr val="dk1"/>
              </a:buClr>
              <a:buSzPts val="1400"/>
              <a:buChar char="●"/>
              <a:defRPr/>
            </a:lvl4pPr>
            <a:lvl5pPr indent="-317500" lvl="4" marL="2286000" rtl="0" algn="l">
              <a:lnSpc>
                <a:spcPct val="90000"/>
              </a:lnSpc>
              <a:spcBef>
                <a:spcPts val="1200"/>
              </a:spcBef>
              <a:spcAft>
                <a:spcPts val="0"/>
              </a:spcAft>
              <a:buClr>
                <a:schemeClr val="dk1"/>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n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n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nl" sz="3300"/>
              <a:t>Latency Counting in the SUS Language</a:t>
            </a:r>
            <a:endParaRPr sz="3300"/>
          </a:p>
        </p:txBody>
      </p:sp>
      <p:sp>
        <p:nvSpPr>
          <p:cNvPr id="61" name="Google Shape;61;p14"/>
          <p:cNvSpPr txBox="1"/>
          <p:nvPr/>
        </p:nvSpPr>
        <p:spPr>
          <a:xfrm>
            <a:off x="715250" y="3768000"/>
            <a:ext cx="3354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1800">
                <a:solidFill>
                  <a:schemeClr val="dk2"/>
                </a:solidFill>
              </a:rPr>
              <a:t>Lennart Van Hirtum</a:t>
            </a:r>
            <a:endParaRPr sz="1800">
              <a:solidFill>
                <a:schemeClr val="dk2"/>
              </a:solidFill>
            </a:endParaRPr>
          </a:p>
          <a:p>
            <a:pPr indent="0" lvl="0" marL="0" rtl="0" algn="l">
              <a:spcBef>
                <a:spcPts val="0"/>
              </a:spcBef>
              <a:spcAft>
                <a:spcPts val="0"/>
              </a:spcAft>
              <a:buNone/>
            </a:pPr>
            <a:r>
              <a:rPr lang="nl" sz="1800">
                <a:solidFill>
                  <a:schemeClr val="dk2"/>
                </a:solidFill>
              </a:rPr>
              <a:t>PC2 - Paderborn University</a:t>
            </a:r>
            <a:endParaRPr sz="1800">
              <a:solidFill>
                <a:schemeClr val="dk2"/>
              </a:solidFill>
            </a:endParaRPr>
          </a:p>
        </p:txBody>
      </p:sp>
      <p:sp>
        <p:nvSpPr>
          <p:cNvPr id="62" name="Google Shape;62;p14"/>
          <p:cNvSpPr txBox="1"/>
          <p:nvPr/>
        </p:nvSpPr>
        <p:spPr>
          <a:xfrm>
            <a:off x="4836900" y="3768000"/>
            <a:ext cx="399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nl" sz="1800">
                <a:solidFill>
                  <a:schemeClr val="dk2"/>
                </a:solidFill>
              </a:rPr>
              <a:t>Prof. Christian Plessl</a:t>
            </a:r>
            <a:endParaRPr sz="1800">
              <a:solidFill>
                <a:schemeClr val="dk2"/>
              </a:solidFill>
            </a:endParaRPr>
          </a:p>
          <a:p>
            <a:pPr indent="0" lvl="0" marL="0" rtl="0" algn="l">
              <a:spcBef>
                <a:spcPts val="0"/>
              </a:spcBef>
              <a:spcAft>
                <a:spcPts val="0"/>
              </a:spcAft>
              <a:buClr>
                <a:schemeClr val="dk1"/>
              </a:buClr>
              <a:buSzPts val="1100"/>
              <a:buFont typeface="Arial"/>
              <a:buNone/>
            </a:pPr>
            <a:r>
              <a:rPr lang="nl" sz="1800">
                <a:solidFill>
                  <a:schemeClr val="dk2"/>
                </a:solidFill>
              </a:rPr>
              <a:t>PC2 - Paderborn University</a:t>
            </a:r>
            <a:endParaRPr sz="1800">
              <a:solidFill>
                <a:schemeClr val="dk2"/>
              </a:solidFill>
            </a:endParaRPr>
          </a:p>
        </p:txBody>
      </p:sp>
      <p:sp>
        <p:nvSpPr>
          <p:cNvPr id="63" name="Google Shape;63;p14"/>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Registers</a:t>
            </a:r>
            <a:endParaRPr/>
          </a:p>
        </p:txBody>
      </p:sp>
      <p:pic>
        <p:nvPicPr>
          <p:cNvPr id="69" name="Google Shape;69;p15"/>
          <p:cNvPicPr preferRelativeResize="0"/>
          <p:nvPr/>
        </p:nvPicPr>
        <p:blipFill>
          <a:blip r:embed="rId3">
            <a:alphaModFix/>
          </a:blip>
          <a:stretch>
            <a:fillRect/>
          </a:stretch>
        </p:blipFill>
        <p:spPr>
          <a:xfrm>
            <a:off x="5308000" y="1697975"/>
            <a:ext cx="2286000" cy="3086100"/>
          </a:xfrm>
          <a:prstGeom prst="rect">
            <a:avLst/>
          </a:prstGeom>
          <a:noFill/>
          <a:ln>
            <a:noFill/>
          </a:ln>
        </p:spPr>
      </p:pic>
      <p:pic>
        <p:nvPicPr>
          <p:cNvPr id="70" name="Google Shape;70;p15"/>
          <p:cNvPicPr preferRelativeResize="0"/>
          <p:nvPr/>
        </p:nvPicPr>
        <p:blipFill>
          <a:blip r:embed="rId4">
            <a:alphaModFix/>
          </a:blip>
          <a:stretch>
            <a:fillRect/>
          </a:stretch>
        </p:blipFill>
        <p:spPr>
          <a:xfrm>
            <a:off x="1711025" y="1697975"/>
            <a:ext cx="2286000" cy="3086100"/>
          </a:xfrm>
          <a:prstGeom prst="rect">
            <a:avLst/>
          </a:prstGeom>
          <a:noFill/>
          <a:ln>
            <a:noFill/>
          </a:ln>
        </p:spPr>
      </p:pic>
      <p:sp>
        <p:nvSpPr>
          <p:cNvPr id="71" name="Google Shape;71;p15"/>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State registers</a:t>
            </a:r>
            <a:endParaRPr/>
          </a:p>
        </p:txBody>
      </p:sp>
      <p:pic>
        <p:nvPicPr>
          <p:cNvPr id="77" name="Google Shape;77;p16"/>
          <p:cNvPicPr preferRelativeResize="0"/>
          <p:nvPr/>
        </p:nvPicPr>
        <p:blipFill>
          <a:blip r:embed="rId3">
            <a:alphaModFix/>
          </a:blip>
          <a:stretch>
            <a:fillRect/>
          </a:stretch>
        </p:blipFill>
        <p:spPr>
          <a:xfrm>
            <a:off x="178375" y="1446444"/>
            <a:ext cx="5429250" cy="3105150"/>
          </a:xfrm>
          <a:prstGeom prst="rect">
            <a:avLst/>
          </a:prstGeom>
          <a:noFill/>
          <a:ln>
            <a:noFill/>
          </a:ln>
        </p:spPr>
      </p:pic>
      <p:pic>
        <p:nvPicPr>
          <p:cNvPr id="78" name="Google Shape;78;p16"/>
          <p:cNvPicPr preferRelativeResize="0"/>
          <p:nvPr/>
        </p:nvPicPr>
        <p:blipFill>
          <a:blip r:embed="rId4">
            <a:alphaModFix/>
          </a:blip>
          <a:stretch>
            <a:fillRect/>
          </a:stretch>
        </p:blipFill>
        <p:spPr>
          <a:xfrm>
            <a:off x="3913925" y="2698750"/>
            <a:ext cx="5278550" cy="2346025"/>
          </a:xfrm>
          <a:prstGeom prst="rect">
            <a:avLst/>
          </a:prstGeom>
          <a:noFill/>
          <a:ln>
            <a:noFill/>
          </a:ln>
        </p:spPr>
      </p:pic>
      <p:sp>
        <p:nvSpPr>
          <p:cNvPr id="79" name="Google Shape;79;p16"/>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p:cNvPicPr preferRelativeResize="0"/>
          <p:nvPr/>
        </p:nvPicPr>
        <p:blipFill>
          <a:blip r:embed="rId3">
            <a:alphaModFix/>
          </a:blip>
          <a:stretch>
            <a:fillRect/>
          </a:stretch>
        </p:blipFill>
        <p:spPr>
          <a:xfrm>
            <a:off x="3786900" y="164175"/>
            <a:ext cx="5231375" cy="2740825"/>
          </a:xfrm>
          <a:prstGeom prst="rect">
            <a:avLst/>
          </a:prstGeom>
          <a:noFill/>
          <a:ln>
            <a:noFill/>
          </a:ln>
        </p:spPr>
      </p:pic>
      <p:sp>
        <p:nvSpPr>
          <p:cNvPr id="85" name="Google Shape;85;p17"/>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Latency Registers</a:t>
            </a:r>
            <a:endParaRPr/>
          </a:p>
        </p:txBody>
      </p:sp>
      <p:pic>
        <p:nvPicPr>
          <p:cNvPr id="86" name="Google Shape;86;p17"/>
          <p:cNvPicPr preferRelativeResize="0"/>
          <p:nvPr/>
        </p:nvPicPr>
        <p:blipFill>
          <a:blip r:embed="rId4">
            <a:alphaModFix/>
          </a:blip>
          <a:stretch>
            <a:fillRect/>
          </a:stretch>
        </p:blipFill>
        <p:spPr>
          <a:xfrm>
            <a:off x="296138" y="3013000"/>
            <a:ext cx="8551726" cy="1824775"/>
          </a:xfrm>
          <a:prstGeom prst="rect">
            <a:avLst/>
          </a:prstGeom>
          <a:noFill/>
          <a:ln>
            <a:noFill/>
          </a:ln>
        </p:spPr>
      </p:pic>
      <p:sp>
        <p:nvSpPr>
          <p:cNvPr id="87" name="Google Shape;87;p17"/>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p:cNvPicPr preferRelativeResize="0"/>
          <p:nvPr/>
        </p:nvPicPr>
        <p:blipFill>
          <a:blip r:embed="rId3">
            <a:alphaModFix/>
          </a:blip>
          <a:stretch>
            <a:fillRect/>
          </a:stretch>
        </p:blipFill>
        <p:spPr>
          <a:xfrm>
            <a:off x="152400" y="1420456"/>
            <a:ext cx="5574675" cy="3589174"/>
          </a:xfrm>
          <a:prstGeom prst="rect">
            <a:avLst/>
          </a:prstGeom>
          <a:noFill/>
          <a:ln>
            <a:noFill/>
          </a:ln>
        </p:spPr>
      </p:pic>
      <p:sp>
        <p:nvSpPr>
          <p:cNvPr id="93" name="Google Shape;93;p18"/>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Port Latencies</a:t>
            </a:r>
            <a:endParaRPr/>
          </a:p>
        </p:txBody>
      </p:sp>
      <p:pic>
        <p:nvPicPr>
          <p:cNvPr id="94" name="Google Shape;94;p18"/>
          <p:cNvPicPr preferRelativeResize="0"/>
          <p:nvPr/>
        </p:nvPicPr>
        <p:blipFill>
          <a:blip r:embed="rId4">
            <a:alphaModFix/>
          </a:blip>
          <a:stretch>
            <a:fillRect/>
          </a:stretch>
        </p:blipFill>
        <p:spPr>
          <a:xfrm>
            <a:off x="3267889" y="843097"/>
            <a:ext cx="5782738" cy="245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None/>
            </a:pPr>
            <a:r>
              <a:rPr lang="nl"/>
              <a:t>Latency Annotations</a:t>
            </a:r>
            <a:endParaRPr/>
          </a:p>
        </p:txBody>
      </p:sp>
      <p:pic>
        <p:nvPicPr>
          <p:cNvPr id="100" name="Google Shape;100;p19"/>
          <p:cNvPicPr preferRelativeResize="0"/>
          <p:nvPr/>
        </p:nvPicPr>
        <p:blipFill>
          <a:blip r:embed="rId3">
            <a:alphaModFix/>
          </a:blip>
          <a:stretch>
            <a:fillRect/>
          </a:stretch>
        </p:blipFill>
        <p:spPr>
          <a:xfrm>
            <a:off x="152400" y="3609852"/>
            <a:ext cx="8839200" cy="843742"/>
          </a:xfrm>
          <a:prstGeom prst="rect">
            <a:avLst/>
          </a:prstGeom>
          <a:noFill/>
          <a:ln>
            <a:noFill/>
          </a:ln>
        </p:spPr>
      </p:pic>
      <p:pic>
        <p:nvPicPr>
          <p:cNvPr id="101" name="Google Shape;101;p19"/>
          <p:cNvPicPr preferRelativeResize="0"/>
          <p:nvPr/>
        </p:nvPicPr>
        <p:blipFill>
          <a:blip r:embed="rId4">
            <a:alphaModFix/>
          </a:blip>
          <a:stretch>
            <a:fillRect/>
          </a:stretch>
        </p:blipFill>
        <p:spPr>
          <a:xfrm>
            <a:off x="1583275" y="1199344"/>
            <a:ext cx="5977451" cy="2037008"/>
          </a:xfrm>
          <a:prstGeom prst="rect">
            <a:avLst/>
          </a:prstGeom>
          <a:noFill/>
          <a:ln>
            <a:noFill/>
          </a:ln>
        </p:spPr>
      </p:pic>
      <p:sp>
        <p:nvSpPr>
          <p:cNvPr id="102" name="Google Shape;102;p19"/>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Multiple Interfaces</a:t>
            </a:r>
            <a:endParaRPr/>
          </a:p>
        </p:txBody>
      </p:sp>
      <p:pic>
        <p:nvPicPr>
          <p:cNvPr id="108" name="Google Shape;108;p20"/>
          <p:cNvPicPr preferRelativeResize="0"/>
          <p:nvPr/>
        </p:nvPicPr>
        <p:blipFill>
          <a:blip r:embed="rId3">
            <a:alphaModFix/>
          </a:blip>
          <a:stretch>
            <a:fillRect/>
          </a:stretch>
        </p:blipFill>
        <p:spPr>
          <a:xfrm>
            <a:off x="152400" y="1268044"/>
            <a:ext cx="8839204" cy="3129113"/>
          </a:xfrm>
          <a:prstGeom prst="rect">
            <a:avLst/>
          </a:prstGeom>
          <a:noFill/>
          <a:ln>
            <a:noFill/>
          </a:ln>
        </p:spPr>
      </p:pic>
      <p:sp>
        <p:nvSpPr>
          <p:cNvPr id="109" name="Google Shape;109;p20"/>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Latency Cuts</a:t>
            </a:r>
            <a:endParaRPr/>
          </a:p>
        </p:txBody>
      </p:sp>
      <p:pic>
        <p:nvPicPr>
          <p:cNvPr id="115" name="Google Shape;115;p21"/>
          <p:cNvPicPr preferRelativeResize="0"/>
          <p:nvPr/>
        </p:nvPicPr>
        <p:blipFill>
          <a:blip r:embed="rId3">
            <a:alphaModFix/>
          </a:blip>
          <a:stretch>
            <a:fillRect/>
          </a:stretch>
        </p:blipFill>
        <p:spPr>
          <a:xfrm>
            <a:off x="674625" y="139700"/>
            <a:ext cx="7794749" cy="4864100"/>
          </a:xfrm>
          <a:prstGeom prst="rect">
            <a:avLst/>
          </a:prstGeom>
          <a:noFill/>
          <a:ln>
            <a:noFill/>
          </a:ln>
        </p:spPr>
      </p:pic>
      <p:sp>
        <p:nvSpPr>
          <p:cNvPr id="116" name="Google Shape;116;p21"/>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nl"/>
              <a:t>Latency offsets</a:t>
            </a:r>
            <a:endParaRPr/>
          </a:p>
        </p:txBody>
      </p:sp>
      <p:sp>
        <p:nvSpPr>
          <p:cNvPr id="122" name="Google Shape;122;p2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pic>
        <p:nvPicPr>
          <p:cNvPr id="123" name="Google Shape;123;p22"/>
          <p:cNvPicPr preferRelativeResize="0"/>
          <p:nvPr/>
        </p:nvPicPr>
        <p:blipFill>
          <a:blip r:embed="rId3">
            <a:alphaModFix/>
          </a:blip>
          <a:stretch>
            <a:fillRect/>
          </a:stretch>
        </p:blipFill>
        <p:spPr>
          <a:xfrm>
            <a:off x="1325413" y="1463825"/>
            <a:ext cx="6493174" cy="3074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3"/>
          <p:cNvPicPr preferRelativeResize="0"/>
          <p:nvPr/>
        </p:nvPicPr>
        <p:blipFill>
          <a:blip r:embed="rId3">
            <a:alphaModFix/>
          </a:blip>
          <a:stretch>
            <a:fillRect/>
          </a:stretch>
        </p:blipFill>
        <p:spPr>
          <a:xfrm>
            <a:off x="2520075" y="-71350"/>
            <a:ext cx="4103850" cy="4103850"/>
          </a:xfrm>
          <a:prstGeom prst="rect">
            <a:avLst/>
          </a:prstGeom>
          <a:noFill/>
          <a:ln>
            <a:noFill/>
          </a:ln>
        </p:spPr>
      </p:pic>
      <p:sp>
        <p:nvSpPr>
          <p:cNvPr id="129" name="Google Shape;129;p23"/>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1200"/>
              </a:spcAft>
              <a:buNone/>
            </a:pPr>
            <a:r>
              <a:t/>
            </a:r>
            <a:endParaRPr/>
          </a:p>
        </p:txBody>
      </p:sp>
      <p:sp>
        <p:nvSpPr>
          <p:cNvPr id="130" name="Google Shape;130;p23"/>
          <p:cNvSpPr txBox="1"/>
          <p:nvPr/>
        </p:nvSpPr>
        <p:spPr>
          <a:xfrm>
            <a:off x="372450" y="3779200"/>
            <a:ext cx="8399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4000">
                <a:solidFill>
                  <a:schemeClr val="accent1"/>
                </a:solidFill>
              </a:rPr>
              <a:t>github.com/pc2/sus-compiler</a:t>
            </a:r>
            <a:endParaRPr sz="4000">
              <a:solidFill>
                <a:schemeClr val="accent1"/>
              </a:solidFill>
            </a:endParaRPr>
          </a:p>
        </p:txBody>
      </p:sp>
      <p:sp>
        <p:nvSpPr>
          <p:cNvPr id="131" name="Google Shape;131;p23"/>
          <p:cNvSpPr txBox="1"/>
          <p:nvPr/>
        </p:nvSpPr>
        <p:spPr>
          <a:xfrm>
            <a:off x="0" y="4774200"/>
            <a:ext cx="95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nl" sz="1200">
                <a:solidFill>
                  <a:srgbClr val="980000"/>
                </a:solidFill>
              </a:rPr>
              <a:t>LATTE’24</a:t>
            </a:r>
            <a:endParaRPr b="1" sz="1200">
              <a:solidFill>
                <a:srgbClr val="98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SUS Goals</a:t>
            </a:r>
            <a:endParaRPr/>
          </a:p>
        </p:txBody>
      </p:sp>
      <p:sp>
        <p:nvSpPr>
          <p:cNvPr id="137" name="Google Shape;137;p24"/>
          <p:cNvSpPr txBox="1"/>
          <p:nvPr/>
        </p:nvSpPr>
        <p:spPr>
          <a:xfrm>
            <a:off x="3335550" y="935600"/>
            <a:ext cx="2472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3000">
                <a:solidFill>
                  <a:schemeClr val="dk2"/>
                </a:solidFill>
              </a:rPr>
              <a:t>Control</a:t>
            </a:r>
            <a:endParaRPr sz="3000">
              <a:solidFill>
                <a:schemeClr val="dk2"/>
              </a:solidFill>
            </a:endParaRPr>
          </a:p>
        </p:txBody>
      </p:sp>
      <p:sp>
        <p:nvSpPr>
          <p:cNvPr id="138" name="Google Shape;138;p24"/>
          <p:cNvSpPr txBox="1"/>
          <p:nvPr/>
        </p:nvSpPr>
        <p:spPr>
          <a:xfrm>
            <a:off x="862650" y="3513150"/>
            <a:ext cx="2472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3000">
                <a:solidFill>
                  <a:schemeClr val="dk2"/>
                </a:solidFill>
              </a:rPr>
              <a:t>Simplicity</a:t>
            </a:r>
            <a:endParaRPr sz="3000">
              <a:solidFill>
                <a:schemeClr val="dk2"/>
              </a:solidFill>
            </a:endParaRPr>
          </a:p>
        </p:txBody>
      </p:sp>
      <p:sp>
        <p:nvSpPr>
          <p:cNvPr id="139" name="Google Shape;139;p24"/>
          <p:cNvSpPr txBox="1"/>
          <p:nvPr/>
        </p:nvSpPr>
        <p:spPr>
          <a:xfrm>
            <a:off x="5808450" y="3513150"/>
            <a:ext cx="2472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nl" sz="3000">
                <a:solidFill>
                  <a:schemeClr val="dk2"/>
                </a:solidFill>
              </a:rPr>
              <a:t>Feedback</a:t>
            </a:r>
            <a:endParaRPr sz="3000">
              <a:solidFill>
                <a:schemeClr val="dk2"/>
              </a:solidFill>
            </a:endParaRPr>
          </a:p>
        </p:txBody>
      </p:sp>
      <p:sp>
        <p:nvSpPr>
          <p:cNvPr id="140" name="Google Shape;140;p24"/>
          <p:cNvSpPr/>
          <p:nvPr/>
        </p:nvSpPr>
        <p:spPr>
          <a:xfrm>
            <a:off x="3526350" y="3605850"/>
            <a:ext cx="2091300" cy="461100"/>
          </a:xfrm>
          <a:prstGeom prst="leftRightArrow">
            <a:avLst>
              <a:gd fmla="val 50000" name="adj1"/>
              <a:gd fmla="val 50000" name="adj2"/>
            </a:avLst>
          </a:prstGeom>
          <a:solidFill>
            <a:srgbClr val="A4C2F4"/>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4"/>
          <p:cNvSpPr/>
          <p:nvPr/>
        </p:nvSpPr>
        <p:spPr>
          <a:xfrm rot="-3295429">
            <a:off x="2335009" y="2317055"/>
            <a:ext cx="2091305" cy="461089"/>
          </a:xfrm>
          <a:prstGeom prst="leftRightArrow">
            <a:avLst>
              <a:gd fmla="val 50000" name="adj1"/>
              <a:gd fmla="val 50000" name="adj2"/>
            </a:avLst>
          </a:prstGeom>
          <a:solidFill>
            <a:srgbClr val="A4C2F4"/>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4"/>
          <p:cNvSpPr/>
          <p:nvPr/>
        </p:nvSpPr>
        <p:spPr>
          <a:xfrm flipH="1" rot="3295429">
            <a:off x="4833059" y="2341205"/>
            <a:ext cx="2091305" cy="461089"/>
          </a:xfrm>
          <a:prstGeom prst="leftRightArrow">
            <a:avLst>
              <a:gd fmla="val 50000" name="adj1"/>
              <a:gd fmla="val 50000" name="adj2"/>
            </a:avLst>
          </a:prstGeom>
          <a:solidFill>
            <a:srgbClr val="A4C2F4"/>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6" name="Shape 146"/>
        <p:cNvGrpSpPr/>
        <p:nvPr/>
      </p:nvGrpSpPr>
      <p:grpSpPr>
        <a:xfrm>
          <a:off x="0" y="0"/>
          <a:ext cx="0" cy="0"/>
          <a:chOff x="0" y="0"/>
          <a:chExt cx="0" cy="0"/>
        </a:xfrm>
      </p:grpSpPr>
      <p:sp>
        <p:nvSpPr>
          <p:cNvPr id="147" name="Google Shape;147;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nl"/>
              <a:t>Latency Counting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0" y="3484800"/>
            <a:ext cx="3424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nl"/>
              <a:t>Control</a:t>
            </a:r>
            <a:endParaRPr/>
          </a:p>
        </p:txBody>
      </p:sp>
      <p:sp>
        <p:nvSpPr>
          <p:cNvPr id="153" name="Google Shape;153;p26"/>
          <p:cNvSpPr txBox="1"/>
          <p:nvPr>
            <p:ph type="title"/>
          </p:nvPr>
        </p:nvSpPr>
        <p:spPr>
          <a:xfrm>
            <a:off x="2859900" y="3484800"/>
            <a:ext cx="3424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nl"/>
              <a:t>Simplicity</a:t>
            </a:r>
            <a:endParaRPr/>
          </a:p>
        </p:txBody>
      </p:sp>
      <p:sp>
        <p:nvSpPr>
          <p:cNvPr id="154" name="Google Shape;154;p26"/>
          <p:cNvSpPr txBox="1"/>
          <p:nvPr>
            <p:ph type="title"/>
          </p:nvPr>
        </p:nvSpPr>
        <p:spPr>
          <a:xfrm>
            <a:off x="5719800" y="3484800"/>
            <a:ext cx="3424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nl"/>
              <a:t>Feedback</a:t>
            </a:r>
            <a:endParaRPr/>
          </a:p>
        </p:txBody>
      </p:sp>
      <p:pic>
        <p:nvPicPr>
          <p:cNvPr id="155" name="Google Shape;155;p26"/>
          <p:cNvPicPr preferRelativeResize="0"/>
          <p:nvPr/>
        </p:nvPicPr>
        <p:blipFill>
          <a:blip r:embed="rId3">
            <a:alphaModFix/>
          </a:blip>
          <a:stretch>
            <a:fillRect/>
          </a:stretch>
        </p:blipFill>
        <p:spPr>
          <a:xfrm>
            <a:off x="450063" y="525100"/>
            <a:ext cx="2524076" cy="2524076"/>
          </a:xfrm>
          <a:prstGeom prst="rect">
            <a:avLst/>
          </a:prstGeom>
          <a:noFill/>
          <a:ln>
            <a:noFill/>
          </a:ln>
        </p:spPr>
      </p:pic>
      <p:pic>
        <p:nvPicPr>
          <p:cNvPr id="156" name="Google Shape;156;p26"/>
          <p:cNvPicPr preferRelativeResize="0"/>
          <p:nvPr/>
        </p:nvPicPr>
        <p:blipFill>
          <a:blip r:embed="rId4">
            <a:alphaModFix/>
          </a:blip>
          <a:stretch>
            <a:fillRect/>
          </a:stretch>
        </p:blipFill>
        <p:spPr>
          <a:xfrm>
            <a:off x="3309950" y="525100"/>
            <a:ext cx="2524076" cy="2524076"/>
          </a:xfrm>
          <a:prstGeom prst="rect">
            <a:avLst/>
          </a:prstGeom>
          <a:noFill/>
          <a:ln>
            <a:noFill/>
          </a:ln>
        </p:spPr>
      </p:pic>
      <p:pic>
        <p:nvPicPr>
          <p:cNvPr id="157" name="Google Shape;157;p26"/>
          <p:cNvPicPr preferRelativeResize="0"/>
          <p:nvPr/>
        </p:nvPicPr>
        <p:blipFill>
          <a:blip r:embed="rId5">
            <a:alphaModFix/>
          </a:blip>
          <a:stretch>
            <a:fillRect/>
          </a:stretch>
        </p:blipFill>
        <p:spPr>
          <a:xfrm>
            <a:off x="6169825" y="525100"/>
            <a:ext cx="2524076" cy="25240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Control</a:t>
            </a:r>
            <a:endParaRPr/>
          </a:p>
        </p:txBody>
      </p:sp>
      <p:sp>
        <p:nvSpPr>
          <p:cNvPr id="163" name="Google Shape;16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All register-based hardware representable</a:t>
            </a:r>
            <a:endParaRPr/>
          </a:p>
          <a:p>
            <a:pPr indent="-342900" lvl="0" marL="457200" rtl="0" algn="l">
              <a:spcBef>
                <a:spcPts val="0"/>
              </a:spcBef>
              <a:spcAft>
                <a:spcPts val="0"/>
              </a:spcAft>
              <a:buSzPts val="1800"/>
              <a:buChar char="-"/>
            </a:pPr>
            <a:r>
              <a:rPr lang="nl"/>
              <a:t>What you write is what you get</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Simplicity</a:t>
            </a:r>
            <a:endParaRPr/>
          </a:p>
        </p:txBody>
      </p:sp>
      <p:sp>
        <p:nvSpPr>
          <p:cNvPr id="169" name="Google Shape;16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Conceptual</a:t>
            </a:r>
            <a:endParaRPr/>
          </a:p>
          <a:p>
            <a:pPr indent="-342900" lvl="0" marL="457200" rtl="0" algn="l">
              <a:spcBef>
                <a:spcPts val="0"/>
              </a:spcBef>
              <a:spcAft>
                <a:spcPts val="0"/>
              </a:spcAft>
              <a:buSzPts val="1800"/>
              <a:buChar char="-"/>
            </a:pPr>
            <a:r>
              <a:rPr lang="nl"/>
              <a:t>Syntactic</a:t>
            </a:r>
            <a:endParaRPr/>
          </a:p>
          <a:p>
            <a:pPr indent="-342900" lvl="0" marL="457200" rtl="0" algn="l">
              <a:spcBef>
                <a:spcPts val="0"/>
              </a:spcBef>
              <a:spcAft>
                <a:spcPts val="0"/>
              </a:spcAft>
              <a:buSzPts val="1800"/>
              <a:buChar char="-"/>
            </a:pPr>
            <a:r>
              <a:rPr lang="nl"/>
              <a:t>Edit Simplicity</a:t>
            </a:r>
            <a:endParaRPr/>
          </a:p>
          <a:p>
            <a:pPr indent="-342900" lvl="0" marL="457200" rtl="0" algn="l">
              <a:spcBef>
                <a:spcPts val="0"/>
              </a:spcBef>
              <a:spcAft>
                <a:spcPts val="0"/>
              </a:spcAft>
              <a:buSzPts val="1800"/>
              <a:buChar char="-"/>
            </a:pPr>
            <a:r>
              <a:rPr lang="nl"/>
              <a:t>When to infer things?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nl"/>
              <a:t>Designer Feedback</a:t>
            </a:r>
            <a:endParaRPr/>
          </a:p>
        </p:txBody>
      </p:sp>
      <p:sp>
        <p:nvSpPr>
          <p:cNvPr id="175" name="Google Shape;17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nl"/>
              <a:t>LSP</a:t>
            </a:r>
            <a:endParaRPr/>
          </a:p>
          <a:p>
            <a:pPr indent="-317500" lvl="1" marL="914400" rtl="0" algn="l">
              <a:spcBef>
                <a:spcPts val="0"/>
              </a:spcBef>
              <a:spcAft>
                <a:spcPts val="0"/>
              </a:spcAft>
              <a:buSzPts val="1400"/>
              <a:buChar char="-"/>
            </a:pPr>
            <a:r>
              <a:rPr lang="nl"/>
              <a:t>Code Navigation</a:t>
            </a:r>
            <a:endParaRPr/>
          </a:p>
          <a:p>
            <a:pPr indent="-317500" lvl="1" marL="914400" rtl="0" algn="l">
              <a:spcBef>
                <a:spcPts val="0"/>
              </a:spcBef>
              <a:spcAft>
                <a:spcPts val="0"/>
              </a:spcAft>
              <a:buSzPts val="1400"/>
              <a:buChar char="-"/>
            </a:pPr>
            <a:r>
              <a:t/>
            </a:r>
            <a:endParaRPr/>
          </a:p>
          <a:p>
            <a:pPr indent="-342900" lvl="0" marL="457200" rtl="0" algn="l">
              <a:spcBef>
                <a:spcPts val="0"/>
              </a:spcBef>
              <a:spcAft>
                <a:spcPts val="0"/>
              </a:spcAft>
              <a:buSzPts val="1800"/>
              <a:buChar char="-"/>
            </a:pPr>
            <a:r>
              <a:rPr lang="nl"/>
              <a:t>Instant In-Editor Feedback</a:t>
            </a:r>
            <a:endParaRPr/>
          </a:p>
          <a:p>
            <a:pPr indent="-317500" lvl="1" marL="914400" rtl="0" algn="l">
              <a:spcBef>
                <a:spcPts val="0"/>
              </a:spcBef>
              <a:spcAft>
                <a:spcPts val="0"/>
              </a:spcAft>
              <a:buSzPts val="1400"/>
              <a:buChar char="-"/>
            </a:pPr>
            <a:r>
              <a:rPr lang="nl"/>
              <a:t>No compile step</a:t>
            </a:r>
            <a:endParaRPr/>
          </a:p>
        </p:txBody>
      </p:sp>
      <p:pic>
        <p:nvPicPr>
          <p:cNvPr id="176" name="Google Shape;176;p29"/>
          <p:cNvPicPr preferRelativeResize="0"/>
          <p:nvPr/>
        </p:nvPicPr>
        <p:blipFill>
          <a:blip r:embed="rId3">
            <a:alphaModFix/>
          </a:blip>
          <a:stretch>
            <a:fillRect/>
          </a:stretch>
        </p:blipFill>
        <p:spPr>
          <a:xfrm>
            <a:off x="6432198" y="111825"/>
            <a:ext cx="2537250" cy="2527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